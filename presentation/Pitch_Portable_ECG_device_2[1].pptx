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F043-0F38-206B-ECE6-16BFD048E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8F153-4922-C818-FEBE-6314FB87E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F9A24-2665-1A87-13B4-AA40F526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A3C43-D3CD-C062-A5EA-DA1007BF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71ECD-0365-F10A-A38C-90A8B046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856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E5DBF-B888-DD02-D123-007B789F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9861-E796-26F9-12C0-7C6522FDE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D061E-530E-303E-18FB-E6E8126E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8F91-A0D1-4BEC-0FFE-6E4D425E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7F133-8101-8F95-4467-2FE4EAF3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355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BA24-2B5A-40E8-59D1-4C85EDB6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5332E-8DDB-9A79-2FB8-B04971693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DE9CB-05EE-4FBC-B52F-C89BB221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1E5B8-2336-6ABB-AD1C-56C24542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CDB9-920A-5338-C7F4-2EBDAA40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146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09CE-6053-FAA7-7164-0936FE54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B8B61-DB45-BACD-4DB3-896D26642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680CC-74BA-DADA-E7AA-1F9F43A1D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F328-CD06-4A3F-9FB1-2ED1FBC3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1615-08A6-171A-FD7C-4C01B556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2460-4297-1579-166F-C8F0AD5E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638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2044-538D-DA17-D19F-F130AF2C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E92F9-5088-4E7F-E5AB-31DB87A87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A8ABC-31A0-381D-C876-00084DA72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CF269-FFFD-ADEB-1F5E-E9076165D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76DE6-2CFB-78C6-CD81-65BB820EB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8CFC3-BC3D-4696-DF70-7B564ADD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8C251-1C88-67FB-9D0E-12DA27F3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F5E38-9863-660F-CA33-8FC45280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752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D322-D9FB-6C7F-768F-60E8BF57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6E767-1EA8-5830-FC28-BF1C337F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F2332-B021-EBAD-DF37-581AF4A5B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CD4BB-F417-36F8-5EEA-6973BA42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3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EB012-7354-7ED7-A879-D71D73E6A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64B7E-8EE6-81F3-D1C9-CDCD36D4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6A4C3-90B0-2896-90AD-0208C5B9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882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4F5C-7AC0-9BED-76CD-B5C8FEAD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AAEC-4EA0-3553-8550-A84BD5EDE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B1DB7-A47C-D135-E122-AD667592B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DB315-009D-6D63-438E-204759A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90B5D-A3B2-2922-7605-75A4DAE6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F8A90-CEF9-BD25-ACA4-EC2012A8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353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00E60-066E-E172-637E-BE273200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262D3-7C39-5D55-A93C-ABD9ECB05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78A9B-8061-2D23-3FF9-4FE5EC21D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C3AF9-0A97-74CE-0A16-E46333E6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348C2-C466-FE9D-D33A-ADE0E5AF4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9CFCD-E510-FAE3-8EDF-5EAEBAB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1426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3A23-ED38-DF71-0BE7-D425B27B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9492F-17B8-E53D-A856-1525A6A73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C2E2D-93BC-3AAB-003C-E823DAD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5ABD4-638F-A13D-881E-186B704C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B4DBD-B777-1C79-9438-E7E0632A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159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3F7188-71CB-417F-E766-428405F3C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D986C-3295-B687-D826-7C7A34899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E4FAB-4732-5496-4F3F-DD7814478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6845B-10B1-C724-4D88-F9275744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4CB7A-C0FA-704C-4632-818E8229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8673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5B662-C37A-531C-FF5E-2E863CF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8CCEE-880B-0B45-7487-8275AE07F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B923A-DF56-FF97-2B2C-CE6AA3371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25C38-3A65-824F-9E16-6EFF0BB6C32D}" type="datetimeFigureOut">
              <a:rPr lang="en-PK" smtClean="0"/>
              <a:t>05/22/2024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B64AB-CAEE-37C1-884A-DE2BF51C9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4E21-A8B1-A1E0-F1FC-281BF62D2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EEC70-E032-ED46-86E8-88AD2108AE92}" type="slidenum">
              <a:rPr lang="en-PK" smtClean="0"/>
              <a:t>‹N›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037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484C-2043-54E7-CBED-D8C80F873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856" y="460211"/>
            <a:ext cx="8622082" cy="1655762"/>
          </a:xfrm>
        </p:spPr>
        <p:txBody>
          <a:bodyPr>
            <a:normAutofit fontScale="90000"/>
          </a:bodyPr>
          <a:lstStyle/>
          <a:p>
            <a:r>
              <a:rPr lang="en-GB" b="0" i="0" dirty="0">
                <a:effectLst/>
                <a:latin typeface="Söhne"/>
              </a:rPr>
              <a:t>Introducing the Pocket-Sized ECG Device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E1DDD-0881-FBB5-DBA5-97882BF30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462" y="2219301"/>
            <a:ext cx="9144000" cy="1655762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  <a:latin typeface="Söhne"/>
              </a:rPr>
              <a:t>Revolutionizing Heart Health Monitoring</a:t>
            </a:r>
          </a:p>
          <a:p>
            <a:r>
              <a:rPr lang="en-GB" b="1" i="0" dirty="0">
                <a:effectLst/>
                <a:latin typeface="Söhne"/>
              </a:rPr>
              <a:t>Presented by:</a:t>
            </a:r>
            <a:r>
              <a:rPr lang="en-GB" b="0" i="0" dirty="0">
                <a:effectLst/>
                <a:latin typeface="Söhne"/>
              </a:rPr>
              <a:t> Sameer Ahmed, </a:t>
            </a:r>
            <a:r>
              <a:rPr lang="en-GB" b="0" i="0" dirty="0" err="1">
                <a:effectLst/>
                <a:latin typeface="Söhne"/>
              </a:rPr>
              <a:t>Abdur</a:t>
            </a:r>
            <a:r>
              <a:rPr lang="en-GB" b="0" i="0" dirty="0">
                <a:effectLst/>
                <a:latin typeface="Söhne"/>
              </a:rPr>
              <a:t> Rehman, </a:t>
            </a:r>
            <a:r>
              <a:rPr lang="en-GB" b="0" i="0" dirty="0" err="1">
                <a:effectLst/>
                <a:latin typeface="Söhne"/>
              </a:rPr>
              <a:t>Sosna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Kassa</a:t>
            </a:r>
            <a:r>
              <a:rPr lang="en-GB" b="0" i="0" dirty="0">
                <a:effectLst/>
                <a:latin typeface="Söhne"/>
              </a:rPr>
              <a:t> , Piera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6F692-D593-3C56-3E46-016BF52A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041" y="3214819"/>
            <a:ext cx="6167933" cy="31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6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3792-DACE-789E-404F-E4C4985B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Söhne"/>
              </a:rPr>
              <a:t>Cardiac Health Challenges in Italy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CFCC-2633-1DC3-70FA-DF9A5354D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35-40% of deaths in Italy are due to cardiovascular diseases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Sudden Cardiac Death (SCD): Approx. 50-100 per 100,000 individuals annually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Undiagnosed Conditions: Many deaths are preventable with early detection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70014-3011-1B90-2E6B-220C7E22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470" y="3638797"/>
            <a:ext cx="2968831" cy="296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59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86BA-2D80-988A-0DCB-2807CE8C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b="0" i="0" dirty="0">
                <a:effectLst/>
                <a:latin typeface="Söhne"/>
              </a:rPr>
            </a:br>
            <a:br>
              <a:rPr lang="en-GB" b="0" i="0" dirty="0">
                <a:effectLst/>
                <a:latin typeface="Söhne"/>
              </a:rPr>
            </a:br>
            <a:br>
              <a:rPr lang="en-GB" b="1" dirty="0">
                <a:latin typeface="Söhne"/>
              </a:rPr>
            </a:br>
            <a:r>
              <a:rPr lang="en-GB" b="1" i="0" dirty="0">
                <a:effectLst/>
                <a:latin typeface="Söhne"/>
              </a:rPr>
              <a:t>Solution &amp; Methodology</a:t>
            </a:r>
            <a:br>
              <a:rPr lang="en-GB" b="0" i="0" dirty="0">
                <a:effectLst/>
                <a:latin typeface="Söhne"/>
              </a:rPr>
            </a:br>
            <a:r>
              <a:rPr lang="en-GB" sz="4000" b="0" i="0" dirty="0">
                <a:effectLst/>
                <a:latin typeface="Söhne"/>
              </a:rPr>
              <a:t>Portable ECG Device &amp; Development Plan</a:t>
            </a:r>
            <a:br>
              <a:rPr lang="en-GB" sz="4000" b="0" i="0" dirty="0">
                <a:effectLst/>
                <a:latin typeface="Söhne"/>
              </a:rPr>
            </a:br>
            <a:br>
              <a:rPr lang="en-GB" sz="4000" dirty="0"/>
            </a:b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BF51-4822-5FF9-3D2E-0B6E09A1E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GB" b="1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Söhne"/>
              </a:rPr>
              <a:t>Portable &amp; Convenient</a:t>
            </a:r>
            <a:r>
              <a:rPr lang="en-GB" b="0" i="0" dirty="0">
                <a:effectLst/>
                <a:latin typeface="Söhne"/>
              </a:rPr>
              <a:t>: Fits in your pocket, connects to smartphones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Söhne"/>
              </a:rPr>
              <a:t>Methodology</a:t>
            </a:r>
            <a:r>
              <a:rPr lang="en-GB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Research &amp; Design: Comprehensive study and initial prototype design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Software Development: MATLAB coding and mobile app integration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Prototype Manufacturing: Initial prototypes for testing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Testing &amp; Validation: Lab and user testing for accuracy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F0C22-A401-FD79-02FD-A36E1210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352" y="4104739"/>
            <a:ext cx="2578141" cy="257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6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B07C-F951-A236-2463-812012F74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89" y="19887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GB" b="0" i="0" dirty="0">
                <a:effectLst/>
                <a:latin typeface="Söhne"/>
              </a:rPr>
            </a:br>
            <a:br>
              <a:rPr lang="en-GB" b="0" i="0" dirty="0">
                <a:effectLst/>
                <a:latin typeface="Söhne"/>
              </a:rPr>
            </a:br>
            <a:r>
              <a:rPr lang="en-GB" b="0" i="0" dirty="0">
                <a:effectLst/>
                <a:latin typeface="Söhne"/>
              </a:rPr>
              <a:t>Budget Allocation (50,000 EUR)</a:t>
            </a:r>
            <a:br>
              <a:rPr lang="en-GB" b="0" i="0" dirty="0">
                <a:effectLst/>
                <a:latin typeface="Söhne"/>
              </a:rPr>
            </a:br>
            <a:br>
              <a:rPr lang="en-GB" dirty="0"/>
            </a:br>
            <a:endParaRPr lang="en-PK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B4F3D1-88AB-BB12-8AB7-0BBB49B1F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21268"/>
              </p:ext>
            </p:extLst>
          </p:nvPr>
        </p:nvGraphicFramePr>
        <p:xfrm>
          <a:off x="458189" y="1690688"/>
          <a:ext cx="10515600" cy="2834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27931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19100703"/>
                    </a:ext>
                  </a:extLst>
                </a:gridCol>
              </a:tblGrid>
              <a:tr h="357681">
                <a:tc>
                  <a:txBody>
                    <a:bodyPr/>
                    <a:lstStyle/>
                    <a:p>
                      <a:pPr fontAlgn="b"/>
                      <a:r>
                        <a:rPr lang="en-GB" b="1" dirty="0">
                          <a:effectLst/>
                        </a:rPr>
                        <a:t>Category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b="1" dirty="0">
                          <a:effectLst/>
                        </a:rPr>
                        <a:t>Amount (EUR)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615377606"/>
                  </a:ext>
                </a:extLst>
              </a:tr>
              <a:tr h="357681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&amp; Design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545799"/>
                  </a:ext>
                </a:extLst>
              </a:tr>
              <a:tr h="357681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</a:rPr>
                        <a:t>Software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>
                          <a:effectLst/>
                        </a:rPr>
                        <a:t>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494333"/>
                  </a:ext>
                </a:extLst>
              </a:tr>
              <a:tr h="357681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</a:rPr>
                        <a:t>Prototype Manufacturing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944432"/>
                  </a:ext>
                </a:extLst>
              </a:tr>
              <a:tr h="357681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</a:rPr>
                        <a:t>Testing &amp;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841908"/>
                  </a:ext>
                </a:extLst>
              </a:tr>
              <a:tr h="357681"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effectLst/>
                        </a:rPr>
                        <a:t>Miscellaneous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012389"/>
                  </a:ext>
                </a:extLst>
              </a:tr>
              <a:tr h="617366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br>
                        <a:rPr lang="en-GB" dirty="0"/>
                      </a:b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8073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AB79AB1-87E7-8825-507A-826F545D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980" y="3699165"/>
            <a:ext cx="3158835" cy="315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7F7D-79CC-FAFE-ACFA-0DE4A6E7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effectLst/>
                <a:latin typeface="Söhne"/>
              </a:rPr>
              <a:t>Timeline &amp; Benefits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54F7B-5392-68EB-3790-153A46D1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Söhne"/>
              </a:rPr>
              <a:t>Timeline</a:t>
            </a:r>
            <a:r>
              <a:rPr lang="en-GB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Research &amp; Design: End of June 2024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Software Development: End of August 2024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Prototype Manufacturing: End of October 2024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Testing &amp; Validation: End of November 2024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Preliminary Final Version: End of December 2024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Söhne"/>
              </a:rPr>
              <a:t>Benefits</a:t>
            </a:r>
            <a:r>
              <a:rPr lang="en-GB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Early Detection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Timely Intervention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Empowerment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öhne"/>
              </a:rPr>
              <a:t>Accessibility</a:t>
            </a:r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F27733-5379-B039-423D-A1FEB7E8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730" y="1567703"/>
            <a:ext cx="40459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8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B1029C-F9D9-212C-5F09-BC5C53366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03" y="916909"/>
            <a:ext cx="5404193" cy="54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1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211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Söhne</vt:lpstr>
      <vt:lpstr>Office Theme</vt:lpstr>
      <vt:lpstr>Introducing the Pocket-Sized ECG Device</vt:lpstr>
      <vt:lpstr>Cardiac Health Challenges in Italy</vt:lpstr>
      <vt:lpstr>   Solution &amp; Methodology Portable ECG Device &amp; Development Plan  </vt:lpstr>
      <vt:lpstr>  Budget Allocation (50,000 EUR)  </vt:lpstr>
      <vt:lpstr>Timeline &amp; Benefits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the Pocket-Sized ECG Device</dc:title>
  <dc:creator>Microsoft Office User</dc:creator>
  <cp:lastModifiedBy>D'AVINO PIERA</cp:lastModifiedBy>
  <cp:revision>3</cp:revision>
  <dcterms:created xsi:type="dcterms:W3CDTF">2024-05-19T15:06:26Z</dcterms:created>
  <dcterms:modified xsi:type="dcterms:W3CDTF">2024-05-22T07:14:55Z</dcterms:modified>
</cp:coreProperties>
</file>