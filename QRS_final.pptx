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4D2D"/>
    <a:srgbClr val="193452"/>
    <a:srgbClr val="5080A7"/>
    <a:srgbClr val="C6EBF5"/>
    <a:srgbClr val="1E558E"/>
    <a:srgbClr val="F4913E"/>
    <a:srgbClr val="004A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3B7851-2F82-4810-A4D4-D4F96095A092}" v="26" dt="2024-05-22T05:38:56.2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Stile scuro 2 - Colore 1/Color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E25E649-3F16-4E02-A733-19D2CDBF48F0}" styleName="Stile medio 3 - Colore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Stile medio 1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9070F2-F021-4D83-9FBE-C167D0EEAAF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F161584-EA2F-4A6C-B5A4-5083944135B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600" dirty="0"/>
            <a:t>INTRODUCTION:</a:t>
          </a:r>
          <a:br>
            <a:rPr lang="en-GB" sz="1600" dirty="0"/>
          </a:br>
          <a:r>
            <a:rPr lang="en-GB" sz="1600" cap="none" dirty="0"/>
            <a:t>- The ECG</a:t>
          </a:r>
          <a:br>
            <a:rPr lang="en-GB" sz="1600" cap="none" dirty="0"/>
          </a:br>
          <a:r>
            <a:rPr lang="en-GB" sz="1600" cap="none" dirty="0"/>
            <a:t>- Why QRS detection is so important</a:t>
          </a:r>
          <a:r>
            <a:rPr lang="en-GB" sz="1600" dirty="0"/>
            <a:t>?</a:t>
          </a:r>
          <a:endParaRPr lang="en-US" sz="1600" dirty="0"/>
        </a:p>
      </dgm:t>
    </dgm:pt>
    <dgm:pt modelId="{31AE95C7-BBA4-44C2-B183-BA71DAC6E2BC}" type="parTrans" cxnId="{F024484D-1E0A-4CED-9F41-11EC5FE81D29}">
      <dgm:prSet/>
      <dgm:spPr/>
      <dgm:t>
        <a:bodyPr/>
        <a:lstStyle/>
        <a:p>
          <a:endParaRPr lang="en-US"/>
        </a:p>
      </dgm:t>
    </dgm:pt>
    <dgm:pt modelId="{8D911BD6-10CC-455E-B2DE-ACD2582D7101}" type="sibTrans" cxnId="{F024484D-1E0A-4CED-9F41-11EC5FE81D29}">
      <dgm:prSet/>
      <dgm:spPr/>
      <dgm:t>
        <a:bodyPr/>
        <a:lstStyle/>
        <a:p>
          <a:endParaRPr lang="en-US"/>
        </a:p>
      </dgm:t>
    </dgm:pt>
    <dgm:pt modelId="{AD18C5EA-DC03-4429-8928-E40AEC19652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600" dirty="0"/>
            <a:t>SYSTEMATIC LITERATURE REVIEW:</a:t>
          </a:r>
          <a:br>
            <a:rPr lang="en-GB" sz="1600" dirty="0"/>
          </a:br>
          <a:r>
            <a:rPr lang="en-GB" sz="1600" dirty="0"/>
            <a:t>- Inclusion and exclusion criteria </a:t>
          </a:r>
          <a:br>
            <a:rPr lang="en-GB" sz="1600" dirty="0"/>
          </a:br>
          <a:r>
            <a:rPr lang="en-GB" sz="1600" dirty="0"/>
            <a:t>- Algorithms from the literature</a:t>
          </a:r>
          <a:endParaRPr lang="en-US" sz="1600" dirty="0"/>
        </a:p>
      </dgm:t>
    </dgm:pt>
    <dgm:pt modelId="{9AF5DCCF-A912-4C2D-8E7D-22448BB60445}" type="parTrans" cxnId="{4EB6C4FB-8E5F-4681-99EC-05071FA908D4}">
      <dgm:prSet/>
      <dgm:spPr/>
      <dgm:t>
        <a:bodyPr/>
        <a:lstStyle/>
        <a:p>
          <a:endParaRPr lang="en-US"/>
        </a:p>
      </dgm:t>
    </dgm:pt>
    <dgm:pt modelId="{4C0BEA7F-DAED-47AC-9497-B6136289CC57}" type="sibTrans" cxnId="{4EB6C4FB-8E5F-4681-99EC-05071FA908D4}">
      <dgm:prSet/>
      <dgm:spPr/>
      <dgm:t>
        <a:bodyPr/>
        <a:lstStyle/>
        <a:p>
          <a:endParaRPr lang="en-US"/>
        </a:p>
      </dgm:t>
    </dgm:pt>
    <dgm:pt modelId="{ACE4D4A0-3F0A-46B0-8FC5-5D1AFEC0B4DC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PROPOSED ALGORITHM:</a:t>
          </a:r>
          <a:br>
            <a:rPr lang="en-GB" dirty="0"/>
          </a:br>
          <a:r>
            <a:rPr lang="en-GB" dirty="0"/>
            <a:t>- Algorithm structure</a:t>
          </a:r>
          <a:br>
            <a:rPr lang="en-GB" dirty="0"/>
          </a:br>
          <a:r>
            <a:rPr lang="en-GB" dirty="0"/>
            <a:t>- Measurement of the QRS complex width</a:t>
          </a:r>
          <a:endParaRPr lang="en-US" dirty="0"/>
        </a:p>
      </dgm:t>
    </dgm:pt>
    <dgm:pt modelId="{81FE0745-A842-4BD4-B7E7-24AD65CA8677}" type="parTrans" cxnId="{59DA7439-485F-4C33-A628-9B53270B91CF}">
      <dgm:prSet/>
      <dgm:spPr/>
      <dgm:t>
        <a:bodyPr/>
        <a:lstStyle/>
        <a:p>
          <a:endParaRPr lang="en-US"/>
        </a:p>
      </dgm:t>
    </dgm:pt>
    <dgm:pt modelId="{082B712B-C8FC-43BC-888A-84EBFD5E9B87}" type="sibTrans" cxnId="{59DA7439-485F-4C33-A628-9B53270B91CF}">
      <dgm:prSet/>
      <dgm:spPr/>
      <dgm:t>
        <a:bodyPr/>
        <a:lstStyle/>
        <a:p>
          <a:endParaRPr lang="en-US"/>
        </a:p>
      </dgm:t>
    </dgm:pt>
    <dgm:pt modelId="{950D669E-BCD0-4EDB-9F0A-F9EE3EB061D6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RESULTS</a:t>
          </a:r>
          <a:endParaRPr lang="en-US"/>
        </a:p>
      </dgm:t>
    </dgm:pt>
    <dgm:pt modelId="{C9818DEA-B111-4BAC-853B-E9504B2EEFA3}" type="parTrans" cxnId="{509BD202-0C48-4FAC-9AD6-47196B2555F8}">
      <dgm:prSet/>
      <dgm:spPr/>
      <dgm:t>
        <a:bodyPr/>
        <a:lstStyle/>
        <a:p>
          <a:endParaRPr lang="en-US"/>
        </a:p>
      </dgm:t>
    </dgm:pt>
    <dgm:pt modelId="{55E38F96-CBD4-422F-83DE-FFB0C2CCB723}" type="sibTrans" cxnId="{509BD202-0C48-4FAC-9AD6-47196B2555F8}">
      <dgm:prSet/>
      <dgm:spPr/>
      <dgm:t>
        <a:bodyPr/>
        <a:lstStyle/>
        <a:p>
          <a:endParaRPr lang="en-US"/>
        </a:p>
      </dgm:t>
    </dgm:pt>
    <dgm:pt modelId="{A210BA1F-C61A-485F-9F00-B9E263F2EE9F}">
      <dgm:prSet/>
      <dgm:spPr/>
      <dgm:t>
        <a:bodyPr/>
        <a:lstStyle/>
        <a:p>
          <a:pPr>
            <a:lnSpc>
              <a:spcPct val="100000"/>
            </a:lnSpc>
          </a:pPr>
          <a:endParaRPr lang="en-GB" dirty="0"/>
        </a:p>
        <a:p>
          <a:pPr>
            <a:lnSpc>
              <a:spcPct val="100000"/>
            </a:lnSpc>
          </a:pPr>
          <a:r>
            <a:rPr lang="en-GB" dirty="0"/>
            <a:t>CONCLUSIONS</a:t>
          </a:r>
          <a:br>
            <a:rPr lang="en-GB" dirty="0"/>
          </a:br>
          <a:endParaRPr lang="en-US" dirty="0"/>
        </a:p>
      </dgm:t>
    </dgm:pt>
    <dgm:pt modelId="{96C048E8-3454-4830-870E-CF6CF9CCFC69}" type="parTrans" cxnId="{F4B101B0-51C7-4D67-8EDF-345ECD8FE603}">
      <dgm:prSet/>
      <dgm:spPr/>
      <dgm:t>
        <a:bodyPr/>
        <a:lstStyle/>
        <a:p>
          <a:endParaRPr lang="en-US"/>
        </a:p>
      </dgm:t>
    </dgm:pt>
    <dgm:pt modelId="{43A201DC-03C6-4A6E-AE24-49498277D24B}" type="sibTrans" cxnId="{F4B101B0-51C7-4D67-8EDF-345ECD8FE603}">
      <dgm:prSet/>
      <dgm:spPr/>
      <dgm:t>
        <a:bodyPr/>
        <a:lstStyle/>
        <a:p>
          <a:endParaRPr lang="en-US"/>
        </a:p>
      </dgm:t>
    </dgm:pt>
    <dgm:pt modelId="{7DCE8B0A-FE31-481F-975E-A4B329B2DCDC}" type="pres">
      <dgm:prSet presAssocID="{719070F2-F021-4D83-9FBE-C167D0EEAAFB}" presName="root" presStyleCnt="0">
        <dgm:presLayoutVars>
          <dgm:dir/>
          <dgm:resizeHandles val="exact"/>
        </dgm:presLayoutVars>
      </dgm:prSet>
      <dgm:spPr/>
    </dgm:pt>
    <dgm:pt modelId="{F21C13D2-DDDA-4689-BE11-BCFEB174C82B}" type="pres">
      <dgm:prSet presAssocID="{0F161584-EA2F-4A6C-B5A4-5083944135B2}" presName="compNode" presStyleCnt="0"/>
      <dgm:spPr/>
    </dgm:pt>
    <dgm:pt modelId="{82FB435E-2006-48A3-9E16-8CAA381CA81F}" type="pres">
      <dgm:prSet presAssocID="{0F161584-EA2F-4A6C-B5A4-5083944135B2}" presName="bgRect" presStyleLbl="bgShp" presStyleIdx="0" presStyleCnt="5"/>
      <dgm:spPr/>
    </dgm:pt>
    <dgm:pt modelId="{FED2C419-2380-4D64-AF3E-7AC179B9FC2E}" type="pres">
      <dgm:prSet presAssocID="{0F161584-EA2F-4A6C-B5A4-5083944135B2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bri"/>
        </a:ext>
      </dgm:extLst>
    </dgm:pt>
    <dgm:pt modelId="{104FAB8B-02E3-48BF-8EDB-6AC2C9D62D54}" type="pres">
      <dgm:prSet presAssocID="{0F161584-EA2F-4A6C-B5A4-5083944135B2}" presName="spaceRect" presStyleCnt="0"/>
      <dgm:spPr/>
    </dgm:pt>
    <dgm:pt modelId="{50AB3F52-7243-4A0D-B891-16CD9A13B5EB}" type="pres">
      <dgm:prSet presAssocID="{0F161584-EA2F-4A6C-B5A4-5083944135B2}" presName="parTx" presStyleLbl="revTx" presStyleIdx="0" presStyleCnt="5">
        <dgm:presLayoutVars>
          <dgm:chMax val="0"/>
          <dgm:chPref val="0"/>
        </dgm:presLayoutVars>
      </dgm:prSet>
      <dgm:spPr/>
    </dgm:pt>
    <dgm:pt modelId="{E3EAF9D7-59DE-439C-B5DA-382B9CE9E633}" type="pres">
      <dgm:prSet presAssocID="{8D911BD6-10CC-455E-B2DE-ACD2582D7101}" presName="sibTrans" presStyleCnt="0"/>
      <dgm:spPr/>
    </dgm:pt>
    <dgm:pt modelId="{8DC93CAF-9BA7-4734-9FDC-C74B57C63A46}" type="pres">
      <dgm:prSet presAssocID="{AD18C5EA-DC03-4429-8928-E40AEC196527}" presName="compNode" presStyleCnt="0"/>
      <dgm:spPr/>
    </dgm:pt>
    <dgm:pt modelId="{DEC24923-4088-48B5-86DD-2EA60B97DF59}" type="pres">
      <dgm:prSet presAssocID="{AD18C5EA-DC03-4429-8928-E40AEC196527}" presName="bgRect" presStyleLbl="bgShp" presStyleIdx="1" presStyleCnt="5"/>
      <dgm:spPr/>
    </dgm:pt>
    <dgm:pt modelId="{9815F9E5-D0A4-4633-97C8-C293BB3C4681}" type="pres">
      <dgm:prSet presAssocID="{AD18C5EA-DC03-4429-8928-E40AEC19652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 on Shelf"/>
        </a:ext>
      </dgm:extLst>
    </dgm:pt>
    <dgm:pt modelId="{87D3FF49-F68A-4D6E-98DA-266B89E489ED}" type="pres">
      <dgm:prSet presAssocID="{AD18C5EA-DC03-4429-8928-E40AEC196527}" presName="spaceRect" presStyleCnt="0"/>
      <dgm:spPr/>
    </dgm:pt>
    <dgm:pt modelId="{0C023D4E-C7A9-488F-A66F-72D6A7D3C4E0}" type="pres">
      <dgm:prSet presAssocID="{AD18C5EA-DC03-4429-8928-E40AEC196527}" presName="parTx" presStyleLbl="revTx" presStyleIdx="1" presStyleCnt="5">
        <dgm:presLayoutVars>
          <dgm:chMax val="0"/>
          <dgm:chPref val="0"/>
        </dgm:presLayoutVars>
      </dgm:prSet>
      <dgm:spPr/>
    </dgm:pt>
    <dgm:pt modelId="{FB02595F-67D5-4925-BF5B-0F8A3B7CF16F}" type="pres">
      <dgm:prSet presAssocID="{4C0BEA7F-DAED-47AC-9497-B6136289CC57}" presName="sibTrans" presStyleCnt="0"/>
      <dgm:spPr/>
    </dgm:pt>
    <dgm:pt modelId="{696AAA39-44D6-41FD-86CC-44BBD471B899}" type="pres">
      <dgm:prSet presAssocID="{ACE4D4A0-3F0A-46B0-8FC5-5D1AFEC0B4DC}" presName="compNode" presStyleCnt="0"/>
      <dgm:spPr/>
    </dgm:pt>
    <dgm:pt modelId="{0BBFF743-C440-4757-B7E5-87E85D0CC2E9}" type="pres">
      <dgm:prSet presAssocID="{ACE4D4A0-3F0A-46B0-8FC5-5D1AFEC0B4DC}" presName="bgRect" presStyleLbl="bgShp" presStyleIdx="2" presStyleCnt="5"/>
      <dgm:spPr/>
    </dgm:pt>
    <dgm:pt modelId="{FCA31099-69F3-4FE6-B365-F31750C1D34A}" type="pres">
      <dgm:prSet presAssocID="{ACE4D4A0-3F0A-46B0-8FC5-5D1AFEC0B4DC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219DB605-AC8D-4091-80EB-D34CAAC8620A}" type="pres">
      <dgm:prSet presAssocID="{ACE4D4A0-3F0A-46B0-8FC5-5D1AFEC0B4DC}" presName="spaceRect" presStyleCnt="0"/>
      <dgm:spPr/>
    </dgm:pt>
    <dgm:pt modelId="{36F768AF-3479-41A7-97DF-3B1434440E58}" type="pres">
      <dgm:prSet presAssocID="{ACE4D4A0-3F0A-46B0-8FC5-5D1AFEC0B4DC}" presName="parTx" presStyleLbl="revTx" presStyleIdx="2" presStyleCnt="5">
        <dgm:presLayoutVars>
          <dgm:chMax val="0"/>
          <dgm:chPref val="0"/>
        </dgm:presLayoutVars>
      </dgm:prSet>
      <dgm:spPr/>
    </dgm:pt>
    <dgm:pt modelId="{16F3117D-406A-4CA0-90E6-B091E01330BF}" type="pres">
      <dgm:prSet presAssocID="{082B712B-C8FC-43BC-888A-84EBFD5E9B87}" presName="sibTrans" presStyleCnt="0"/>
      <dgm:spPr/>
    </dgm:pt>
    <dgm:pt modelId="{BC3CB35F-45CF-4290-AA4E-DC3CDC3ABABD}" type="pres">
      <dgm:prSet presAssocID="{950D669E-BCD0-4EDB-9F0A-F9EE3EB061D6}" presName="compNode" presStyleCnt="0"/>
      <dgm:spPr/>
    </dgm:pt>
    <dgm:pt modelId="{0047CCC9-1071-410C-9C47-7663F3BC51CD}" type="pres">
      <dgm:prSet presAssocID="{950D669E-BCD0-4EDB-9F0A-F9EE3EB061D6}" presName="bgRect" presStyleLbl="bgShp" presStyleIdx="3" presStyleCnt="5"/>
      <dgm:spPr/>
    </dgm:pt>
    <dgm:pt modelId="{D94CFC72-17F5-4B4C-B8DA-191FDB9F9A73}" type="pres">
      <dgm:prSet presAssocID="{950D669E-BCD0-4EDB-9F0A-F9EE3EB061D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D39F40E1-43B7-4652-A7B5-1422CDA4142C}" type="pres">
      <dgm:prSet presAssocID="{950D669E-BCD0-4EDB-9F0A-F9EE3EB061D6}" presName="spaceRect" presStyleCnt="0"/>
      <dgm:spPr/>
    </dgm:pt>
    <dgm:pt modelId="{9B28002F-8705-43F7-8E72-84378A15F8A4}" type="pres">
      <dgm:prSet presAssocID="{950D669E-BCD0-4EDB-9F0A-F9EE3EB061D6}" presName="parTx" presStyleLbl="revTx" presStyleIdx="3" presStyleCnt="5">
        <dgm:presLayoutVars>
          <dgm:chMax val="0"/>
          <dgm:chPref val="0"/>
        </dgm:presLayoutVars>
      </dgm:prSet>
      <dgm:spPr/>
    </dgm:pt>
    <dgm:pt modelId="{43F7349A-4038-424B-9299-6BB9F9A40FB1}" type="pres">
      <dgm:prSet presAssocID="{55E38F96-CBD4-422F-83DE-FFB0C2CCB723}" presName="sibTrans" presStyleCnt="0"/>
      <dgm:spPr/>
    </dgm:pt>
    <dgm:pt modelId="{6DC9F8F6-DAC7-43E9-B698-2DDE049EBFF3}" type="pres">
      <dgm:prSet presAssocID="{A210BA1F-C61A-485F-9F00-B9E263F2EE9F}" presName="compNode" presStyleCnt="0"/>
      <dgm:spPr/>
    </dgm:pt>
    <dgm:pt modelId="{8CD44B9A-CFF7-435E-9333-C76C89034B06}" type="pres">
      <dgm:prSet presAssocID="{A210BA1F-C61A-485F-9F00-B9E263F2EE9F}" presName="bgRect" presStyleLbl="bgShp" presStyleIdx="4" presStyleCnt="5" custLinFactNeighborX="-682" custLinFactNeighborY="3222"/>
      <dgm:spPr/>
    </dgm:pt>
    <dgm:pt modelId="{1F690716-6FB6-429F-ADE2-BCB61FCE68AB}" type="pres">
      <dgm:prSet presAssocID="{A210BA1F-C61A-485F-9F00-B9E263F2EE9F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gno di spunta"/>
        </a:ext>
      </dgm:extLst>
    </dgm:pt>
    <dgm:pt modelId="{AD9DF450-B7DD-4DD5-9C70-8828A33DFE6E}" type="pres">
      <dgm:prSet presAssocID="{A210BA1F-C61A-485F-9F00-B9E263F2EE9F}" presName="spaceRect" presStyleCnt="0"/>
      <dgm:spPr/>
    </dgm:pt>
    <dgm:pt modelId="{DC25808D-4C86-4A9E-A838-C6B8EAE35EB9}" type="pres">
      <dgm:prSet presAssocID="{A210BA1F-C61A-485F-9F00-B9E263F2EE9F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509BD202-0C48-4FAC-9AD6-47196B2555F8}" srcId="{719070F2-F021-4D83-9FBE-C167D0EEAAFB}" destId="{950D669E-BCD0-4EDB-9F0A-F9EE3EB061D6}" srcOrd="3" destOrd="0" parTransId="{C9818DEA-B111-4BAC-853B-E9504B2EEFA3}" sibTransId="{55E38F96-CBD4-422F-83DE-FFB0C2CCB723}"/>
    <dgm:cxn modelId="{D1CCE007-AF7E-4F24-B4AE-6E5CCEC0614A}" type="presOf" srcId="{A210BA1F-C61A-485F-9F00-B9E263F2EE9F}" destId="{DC25808D-4C86-4A9E-A838-C6B8EAE35EB9}" srcOrd="0" destOrd="0" presId="urn:microsoft.com/office/officeart/2018/2/layout/IconVerticalSolidList"/>
    <dgm:cxn modelId="{E4957E38-9DCA-4605-BB3C-9E3A17672EF1}" type="presOf" srcId="{AD18C5EA-DC03-4429-8928-E40AEC196527}" destId="{0C023D4E-C7A9-488F-A66F-72D6A7D3C4E0}" srcOrd="0" destOrd="0" presId="urn:microsoft.com/office/officeart/2018/2/layout/IconVerticalSolidList"/>
    <dgm:cxn modelId="{59DA7439-485F-4C33-A628-9B53270B91CF}" srcId="{719070F2-F021-4D83-9FBE-C167D0EEAAFB}" destId="{ACE4D4A0-3F0A-46B0-8FC5-5D1AFEC0B4DC}" srcOrd="2" destOrd="0" parTransId="{81FE0745-A842-4BD4-B7E7-24AD65CA8677}" sibTransId="{082B712B-C8FC-43BC-888A-84EBFD5E9B87}"/>
    <dgm:cxn modelId="{F024484D-1E0A-4CED-9F41-11EC5FE81D29}" srcId="{719070F2-F021-4D83-9FBE-C167D0EEAAFB}" destId="{0F161584-EA2F-4A6C-B5A4-5083944135B2}" srcOrd="0" destOrd="0" parTransId="{31AE95C7-BBA4-44C2-B183-BA71DAC6E2BC}" sibTransId="{8D911BD6-10CC-455E-B2DE-ACD2582D7101}"/>
    <dgm:cxn modelId="{60B21975-4F4C-4879-8440-9D0E09E64C55}" type="presOf" srcId="{950D669E-BCD0-4EDB-9F0A-F9EE3EB061D6}" destId="{9B28002F-8705-43F7-8E72-84378A15F8A4}" srcOrd="0" destOrd="0" presId="urn:microsoft.com/office/officeart/2018/2/layout/IconVerticalSolidList"/>
    <dgm:cxn modelId="{284F9281-DDE8-4919-A694-EF45C8C161D4}" type="presOf" srcId="{719070F2-F021-4D83-9FBE-C167D0EEAAFB}" destId="{7DCE8B0A-FE31-481F-975E-A4B329B2DCDC}" srcOrd="0" destOrd="0" presId="urn:microsoft.com/office/officeart/2018/2/layout/IconVerticalSolidList"/>
    <dgm:cxn modelId="{DCE4E487-6D50-43CC-90AC-C6BF99D33850}" type="presOf" srcId="{ACE4D4A0-3F0A-46B0-8FC5-5D1AFEC0B4DC}" destId="{36F768AF-3479-41A7-97DF-3B1434440E58}" srcOrd="0" destOrd="0" presId="urn:microsoft.com/office/officeart/2018/2/layout/IconVerticalSolidList"/>
    <dgm:cxn modelId="{F4B101B0-51C7-4D67-8EDF-345ECD8FE603}" srcId="{719070F2-F021-4D83-9FBE-C167D0EEAAFB}" destId="{A210BA1F-C61A-485F-9F00-B9E263F2EE9F}" srcOrd="4" destOrd="0" parTransId="{96C048E8-3454-4830-870E-CF6CF9CCFC69}" sibTransId="{43A201DC-03C6-4A6E-AE24-49498277D24B}"/>
    <dgm:cxn modelId="{86F64EBF-4A8B-47D1-BB47-745BE50E7435}" type="presOf" srcId="{0F161584-EA2F-4A6C-B5A4-5083944135B2}" destId="{50AB3F52-7243-4A0D-B891-16CD9A13B5EB}" srcOrd="0" destOrd="0" presId="urn:microsoft.com/office/officeart/2018/2/layout/IconVerticalSolidList"/>
    <dgm:cxn modelId="{4EB6C4FB-8E5F-4681-99EC-05071FA908D4}" srcId="{719070F2-F021-4D83-9FBE-C167D0EEAAFB}" destId="{AD18C5EA-DC03-4429-8928-E40AEC196527}" srcOrd="1" destOrd="0" parTransId="{9AF5DCCF-A912-4C2D-8E7D-22448BB60445}" sibTransId="{4C0BEA7F-DAED-47AC-9497-B6136289CC57}"/>
    <dgm:cxn modelId="{02234D19-3FB7-405C-9B23-6F004B4B2020}" type="presParOf" srcId="{7DCE8B0A-FE31-481F-975E-A4B329B2DCDC}" destId="{F21C13D2-DDDA-4689-BE11-BCFEB174C82B}" srcOrd="0" destOrd="0" presId="urn:microsoft.com/office/officeart/2018/2/layout/IconVerticalSolidList"/>
    <dgm:cxn modelId="{372FC6E8-9275-4A1C-9EAB-02E952A5AD37}" type="presParOf" srcId="{F21C13D2-DDDA-4689-BE11-BCFEB174C82B}" destId="{82FB435E-2006-48A3-9E16-8CAA381CA81F}" srcOrd="0" destOrd="0" presId="urn:microsoft.com/office/officeart/2018/2/layout/IconVerticalSolidList"/>
    <dgm:cxn modelId="{AC097EB2-B360-40AA-BA22-6D03D2FB5804}" type="presParOf" srcId="{F21C13D2-DDDA-4689-BE11-BCFEB174C82B}" destId="{FED2C419-2380-4D64-AF3E-7AC179B9FC2E}" srcOrd="1" destOrd="0" presId="urn:microsoft.com/office/officeart/2018/2/layout/IconVerticalSolidList"/>
    <dgm:cxn modelId="{51DA890E-CB18-44F2-A40B-38F8BEF50FBD}" type="presParOf" srcId="{F21C13D2-DDDA-4689-BE11-BCFEB174C82B}" destId="{104FAB8B-02E3-48BF-8EDB-6AC2C9D62D54}" srcOrd="2" destOrd="0" presId="urn:microsoft.com/office/officeart/2018/2/layout/IconVerticalSolidList"/>
    <dgm:cxn modelId="{953C90B5-A10D-466E-A8BF-97C7BD049D03}" type="presParOf" srcId="{F21C13D2-DDDA-4689-BE11-BCFEB174C82B}" destId="{50AB3F52-7243-4A0D-B891-16CD9A13B5EB}" srcOrd="3" destOrd="0" presId="urn:microsoft.com/office/officeart/2018/2/layout/IconVerticalSolidList"/>
    <dgm:cxn modelId="{BDE5630E-B882-49D9-8439-9B4C9F2C25EC}" type="presParOf" srcId="{7DCE8B0A-FE31-481F-975E-A4B329B2DCDC}" destId="{E3EAF9D7-59DE-439C-B5DA-382B9CE9E633}" srcOrd="1" destOrd="0" presId="urn:microsoft.com/office/officeart/2018/2/layout/IconVerticalSolidList"/>
    <dgm:cxn modelId="{FEEF3D1F-B025-4352-8C46-4DB2B3B7284D}" type="presParOf" srcId="{7DCE8B0A-FE31-481F-975E-A4B329B2DCDC}" destId="{8DC93CAF-9BA7-4734-9FDC-C74B57C63A46}" srcOrd="2" destOrd="0" presId="urn:microsoft.com/office/officeart/2018/2/layout/IconVerticalSolidList"/>
    <dgm:cxn modelId="{8D9BCC36-F691-4A09-9BC3-3DC6BC89568F}" type="presParOf" srcId="{8DC93CAF-9BA7-4734-9FDC-C74B57C63A46}" destId="{DEC24923-4088-48B5-86DD-2EA60B97DF59}" srcOrd="0" destOrd="0" presId="urn:microsoft.com/office/officeart/2018/2/layout/IconVerticalSolidList"/>
    <dgm:cxn modelId="{576B8803-EA96-40CD-B1B6-12C7E7D3BF8D}" type="presParOf" srcId="{8DC93CAF-9BA7-4734-9FDC-C74B57C63A46}" destId="{9815F9E5-D0A4-4633-97C8-C293BB3C4681}" srcOrd="1" destOrd="0" presId="urn:microsoft.com/office/officeart/2018/2/layout/IconVerticalSolidList"/>
    <dgm:cxn modelId="{7F30A5E0-670B-4326-A56C-B97D85EE7D68}" type="presParOf" srcId="{8DC93CAF-9BA7-4734-9FDC-C74B57C63A46}" destId="{87D3FF49-F68A-4D6E-98DA-266B89E489ED}" srcOrd="2" destOrd="0" presId="urn:microsoft.com/office/officeart/2018/2/layout/IconVerticalSolidList"/>
    <dgm:cxn modelId="{CC3F8AAF-1127-44A7-BA3F-DB336D6CBE3E}" type="presParOf" srcId="{8DC93CAF-9BA7-4734-9FDC-C74B57C63A46}" destId="{0C023D4E-C7A9-488F-A66F-72D6A7D3C4E0}" srcOrd="3" destOrd="0" presId="urn:microsoft.com/office/officeart/2018/2/layout/IconVerticalSolidList"/>
    <dgm:cxn modelId="{88376EB5-4872-4B21-AC4E-443827617930}" type="presParOf" srcId="{7DCE8B0A-FE31-481F-975E-A4B329B2DCDC}" destId="{FB02595F-67D5-4925-BF5B-0F8A3B7CF16F}" srcOrd="3" destOrd="0" presId="urn:microsoft.com/office/officeart/2018/2/layout/IconVerticalSolidList"/>
    <dgm:cxn modelId="{E56DC1BE-4A09-4B22-8430-E7B14BB04C92}" type="presParOf" srcId="{7DCE8B0A-FE31-481F-975E-A4B329B2DCDC}" destId="{696AAA39-44D6-41FD-86CC-44BBD471B899}" srcOrd="4" destOrd="0" presId="urn:microsoft.com/office/officeart/2018/2/layout/IconVerticalSolidList"/>
    <dgm:cxn modelId="{9359D7AE-DCF3-40E7-B638-936EEFA2763B}" type="presParOf" srcId="{696AAA39-44D6-41FD-86CC-44BBD471B899}" destId="{0BBFF743-C440-4757-B7E5-87E85D0CC2E9}" srcOrd="0" destOrd="0" presId="urn:microsoft.com/office/officeart/2018/2/layout/IconVerticalSolidList"/>
    <dgm:cxn modelId="{8B5EE2B9-2BFB-4EF2-85B3-D625C8D73A60}" type="presParOf" srcId="{696AAA39-44D6-41FD-86CC-44BBD471B899}" destId="{FCA31099-69F3-4FE6-B365-F31750C1D34A}" srcOrd="1" destOrd="0" presId="urn:microsoft.com/office/officeart/2018/2/layout/IconVerticalSolidList"/>
    <dgm:cxn modelId="{3C632008-F291-4F94-AAB5-E66D3EE2B665}" type="presParOf" srcId="{696AAA39-44D6-41FD-86CC-44BBD471B899}" destId="{219DB605-AC8D-4091-80EB-D34CAAC8620A}" srcOrd="2" destOrd="0" presId="urn:microsoft.com/office/officeart/2018/2/layout/IconVerticalSolidList"/>
    <dgm:cxn modelId="{7708F164-BB5F-4EC0-8B35-1041BF5A5430}" type="presParOf" srcId="{696AAA39-44D6-41FD-86CC-44BBD471B899}" destId="{36F768AF-3479-41A7-97DF-3B1434440E58}" srcOrd="3" destOrd="0" presId="urn:microsoft.com/office/officeart/2018/2/layout/IconVerticalSolidList"/>
    <dgm:cxn modelId="{1018315B-36CF-4AAC-870B-443E20CC2988}" type="presParOf" srcId="{7DCE8B0A-FE31-481F-975E-A4B329B2DCDC}" destId="{16F3117D-406A-4CA0-90E6-B091E01330BF}" srcOrd="5" destOrd="0" presId="urn:microsoft.com/office/officeart/2018/2/layout/IconVerticalSolidList"/>
    <dgm:cxn modelId="{C65523B0-8AA4-4324-BF23-CF5535448DA0}" type="presParOf" srcId="{7DCE8B0A-FE31-481F-975E-A4B329B2DCDC}" destId="{BC3CB35F-45CF-4290-AA4E-DC3CDC3ABABD}" srcOrd="6" destOrd="0" presId="urn:microsoft.com/office/officeart/2018/2/layout/IconVerticalSolidList"/>
    <dgm:cxn modelId="{61C0DCCE-C22D-4E35-BCEB-790ACDA700EF}" type="presParOf" srcId="{BC3CB35F-45CF-4290-AA4E-DC3CDC3ABABD}" destId="{0047CCC9-1071-410C-9C47-7663F3BC51CD}" srcOrd="0" destOrd="0" presId="urn:microsoft.com/office/officeart/2018/2/layout/IconVerticalSolidList"/>
    <dgm:cxn modelId="{60EC6BB6-DE75-4E04-A0B4-6B6BA8A7905B}" type="presParOf" srcId="{BC3CB35F-45CF-4290-AA4E-DC3CDC3ABABD}" destId="{D94CFC72-17F5-4B4C-B8DA-191FDB9F9A73}" srcOrd="1" destOrd="0" presId="urn:microsoft.com/office/officeart/2018/2/layout/IconVerticalSolidList"/>
    <dgm:cxn modelId="{EE9DC4FC-AA13-4C10-BFB8-B5A3005805A4}" type="presParOf" srcId="{BC3CB35F-45CF-4290-AA4E-DC3CDC3ABABD}" destId="{D39F40E1-43B7-4652-A7B5-1422CDA4142C}" srcOrd="2" destOrd="0" presId="urn:microsoft.com/office/officeart/2018/2/layout/IconVerticalSolidList"/>
    <dgm:cxn modelId="{F8BF7725-A6D4-4009-8266-294A16375E18}" type="presParOf" srcId="{BC3CB35F-45CF-4290-AA4E-DC3CDC3ABABD}" destId="{9B28002F-8705-43F7-8E72-84378A15F8A4}" srcOrd="3" destOrd="0" presId="urn:microsoft.com/office/officeart/2018/2/layout/IconVerticalSolidList"/>
    <dgm:cxn modelId="{611ED151-4DD0-49B0-AE42-FFE58D09AF63}" type="presParOf" srcId="{7DCE8B0A-FE31-481F-975E-A4B329B2DCDC}" destId="{43F7349A-4038-424B-9299-6BB9F9A40FB1}" srcOrd="7" destOrd="0" presId="urn:microsoft.com/office/officeart/2018/2/layout/IconVerticalSolidList"/>
    <dgm:cxn modelId="{8DC98047-06F2-4CB2-AD4F-54823843F945}" type="presParOf" srcId="{7DCE8B0A-FE31-481F-975E-A4B329B2DCDC}" destId="{6DC9F8F6-DAC7-43E9-B698-2DDE049EBFF3}" srcOrd="8" destOrd="0" presId="urn:microsoft.com/office/officeart/2018/2/layout/IconVerticalSolidList"/>
    <dgm:cxn modelId="{4D2A9C5D-7F29-415D-A9E2-516AE9400309}" type="presParOf" srcId="{6DC9F8F6-DAC7-43E9-B698-2DDE049EBFF3}" destId="{8CD44B9A-CFF7-435E-9333-C76C89034B06}" srcOrd="0" destOrd="0" presId="urn:microsoft.com/office/officeart/2018/2/layout/IconVerticalSolidList"/>
    <dgm:cxn modelId="{6763544B-1845-4F9D-A59B-EF9599674BBC}" type="presParOf" srcId="{6DC9F8F6-DAC7-43E9-B698-2DDE049EBFF3}" destId="{1F690716-6FB6-429F-ADE2-BCB61FCE68AB}" srcOrd="1" destOrd="0" presId="urn:microsoft.com/office/officeart/2018/2/layout/IconVerticalSolidList"/>
    <dgm:cxn modelId="{41CBDB41-16B3-40D7-BC99-17B96FDFD909}" type="presParOf" srcId="{6DC9F8F6-DAC7-43E9-B698-2DDE049EBFF3}" destId="{AD9DF450-B7DD-4DD5-9C70-8828A33DFE6E}" srcOrd="2" destOrd="0" presId="urn:microsoft.com/office/officeart/2018/2/layout/IconVerticalSolidList"/>
    <dgm:cxn modelId="{268446BD-6385-43C8-907C-35670FDC5CF9}" type="presParOf" srcId="{6DC9F8F6-DAC7-43E9-B698-2DDE049EBFF3}" destId="{DC25808D-4C86-4A9E-A838-C6B8EAE35EB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FB435E-2006-48A3-9E16-8CAA381CA81F}">
      <dsp:nvSpPr>
        <dsp:cNvPr id="0" name=""/>
        <dsp:cNvSpPr/>
      </dsp:nvSpPr>
      <dsp:spPr>
        <a:xfrm>
          <a:off x="0" y="7091"/>
          <a:ext cx="6245265" cy="901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D2C419-2380-4D64-AF3E-7AC179B9FC2E}">
      <dsp:nvSpPr>
        <dsp:cNvPr id="0" name=""/>
        <dsp:cNvSpPr/>
      </dsp:nvSpPr>
      <dsp:spPr>
        <a:xfrm>
          <a:off x="272563" y="209824"/>
          <a:ext cx="496054" cy="4955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AB3F52-7243-4A0D-B891-16CD9A13B5EB}">
      <dsp:nvSpPr>
        <dsp:cNvPr id="0" name=""/>
        <dsp:cNvSpPr/>
      </dsp:nvSpPr>
      <dsp:spPr>
        <a:xfrm>
          <a:off x="1041181" y="7091"/>
          <a:ext cx="5188048" cy="9291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340" tIns="98340" rIns="98340" bIns="9834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INTRODUCTION:</a:t>
          </a:r>
          <a:br>
            <a:rPr lang="en-GB" sz="1600" kern="1200" dirty="0"/>
          </a:br>
          <a:r>
            <a:rPr lang="en-GB" sz="1600" kern="1200" cap="none" dirty="0"/>
            <a:t>- The ECG</a:t>
          </a:r>
          <a:br>
            <a:rPr lang="en-GB" sz="1600" kern="1200" cap="none" dirty="0"/>
          </a:br>
          <a:r>
            <a:rPr lang="en-GB" sz="1600" kern="1200" cap="none" dirty="0"/>
            <a:t>- Why QRS detection is so important</a:t>
          </a:r>
          <a:r>
            <a:rPr lang="en-GB" sz="1600" kern="1200" dirty="0"/>
            <a:t>?</a:t>
          </a:r>
          <a:endParaRPr lang="en-US" sz="1600" kern="1200" dirty="0"/>
        </a:p>
      </dsp:txBody>
      <dsp:txXfrm>
        <a:off x="1041181" y="7091"/>
        <a:ext cx="5188048" cy="929193"/>
      </dsp:txXfrm>
    </dsp:sp>
    <dsp:sp modelId="{DEC24923-4088-48B5-86DD-2EA60B97DF59}">
      <dsp:nvSpPr>
        <dsp:cNvPr id="0" name=""/>
        <dsp:cNvSpPr/>
      </dsp:nvSpPr>
      <dsp:spPr>
        <a:xfrm>
          <a:off x="0" y="1168584"/>
          <a:ext cx="6245265" cy="901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15F9E5-D0A4-4633-97C8-C293BB3C4681}">
      <dsp:nvSpPr>
        <dsp:cNvPr id="0" name=""/>
        <dsp:cNvSpPr/>
      </dsp:nvSpPr>
      <dsp:spPr>
        <a:xfrm>
          <a:off x="272563" y="1371317"/>
          <a:ext cx="496054" cy="4955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023D4E-C7A9-488F-A66F-72D6A7D3C4E0}">
      <dsp:nvSpPr>
        <dsp:cNvPr id="0" name=""/>
        <dsp:cNvSpPr/>
      </dsp:nvSpPr>
      <dsp:spPr>
        <a:xfrm>
          <a:off x="1041181" y="1168584"/>
          <a:ext cx="5188048" cy="9291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340" tIns="98340" rIns="98340" bIns="9834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SYSTEMATIC LITERATURE REVIEW:</a:t>
          </a:r>
          <a:br>
            <a:rPr lang="en-GB" sz="1600" kern="1200" dirty="0"/>
          </a:br>
          <a:r>
            <a:rPr lang="en-GB" sz="1600" kern="1200" dirty="0"/>
            <a:t>- Inclusion and exclusion criteria </a:t>
          </a:r>
          <a:br>
            <a:rPr lang="en-GB" sz="1600" kern="1200" dirty="0"/>
          </a:br>
          <a:r>
            <a:rPr lang="en-GB" sz="1600" kern="1200" dirty="0"/>
            <a:t>- Algorithms from the literature</a:t>
          </a:r>
          <a:endParaRPr lang="en-US" sz="1600" kern="1200" dirty="0"/>
        </a:p>
      </dsp:txBody>
      <dsp:txXfrm>
        <a:off x="1041181" y="1168584"/>
        <a:ext cx="5188048" cy="929193"/>
      </dsp:txXfrm>
    </dsp:sp>
    <dsp:sp modelId="{0BBFF743-C440-4757-B7E5-87E85D0CC2E9}">
      <dsp:nvSpPr>
        <dsp:cNvPr id="0" name=""/>
        <dsp:cNvSpPr/>
      </dsp:nvSpPr>
      <dsp:spPr>
        <a:xfrm>
          <a:off x="0" y="2330076"/>
          <a:ext cx="6245265" cy="901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A31099-69F3-4FE6-B365-F31750C1D34A}">
      <dsp:nvSpPr>
        <dsp:cNvPr id="0" name=""/>
        <dsp:cNvSpPr/>
      </dsp:nvSpPr>
      <dsp:spPr>
        <a:xfrm>
          <a:off x="272563" y="2532809"/>
          <a:ext cx="496054" cy="49557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F768AF-3479-41A7-97DF-3B1434440E58}">
      <dsp:nvSpPr>
        <dsp:cNvPr id="0" name=""/>
        <dsp:cNvSpPr/>
      </dsp:nvSpPr>
      <dsp:spPr>
        <a:xfrm>
          <a:off x="1041181" y="2330076"/>
          <a:ext cx="5188048" cy="9291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340" tIns="98340" rIns="98340" bIns="9834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PROPOSED ALGORITHM:</a:t>
          </a:r>
          <a:br>
            <a:rPr lang="en-GB" sz="1400" kern="1200" dirty="0"/>
          </a:br>
          <a:r>
            <a:rPr lang="en-GB" sz="1400" kern="1200" dirty="0"/>
            <a:t>- Algorithm structure</a:t>
          </a:r>
          <a:br>
            <a:rPr lang="en-GB" sz="1400" kern="1200" dirty="0"/>
          </a:br>
          <a:r>
            <a:rPr lang="en-GB" sz="1400" kern="1200" dirty="0"/>
            <a:t>- Measurement of the QRS complex width</a:t>
          </a:r>
          <a:endParaRPr lang="en-US" sz="1400" kern="1200" dirty="0"/>
        </a:p>
      </dsp:txBody>
      <dsp:txXfrm>
        <a:off x="1041181" y="2330076"/>
        <a:ext cx="5188048" cy="929193"/>
      </dsp:txXfrm>
    </dsp:sp>
    <dsp:sp modelId="{0047CCC9-1071-410C-9C47-7663F3BC51CD}">
      <dsp:nvSpPr>
        <dsp:cNvPr id="0" name=""/>
        <dsp:cNvSpPr/>
      </dsp:nvSpPr>
      <dsp:spPr>
        <a:xfrm>
          <a:off x="0" y="3491568"/>
          <a:ext cx="6245265" cy="901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4CFC72-17F5-4B4C-B8DA-191FDB9F9A73}">
      <dsp:nvSpPr>
        <dsp:cNvPr id="0" name=""/>
        <dsp:cNvSpPr/>
      </dsp:nvSpPr>
      <dsp:spPr>
        <a:xfrm>
          <a:off x="272563" y="3694302"/>
          <a:ext cx="496054" cy="49557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28002F-8705-43F7-8E72-84378A15F8A4}">
      <dsp:nvSpPr>
        <dsp:cNvPr id="0" name=""/>
        <dsp:cNvSpPr/>
      </dsp:nvSpPr>
      <dsp:spPr>
        <a:xfrm>
          <a:off x="1041181" y="3491568"/>
          <a:ext cx="5188048" cy="9291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340" tIns="98340" rIns="98340" bIns="9834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RESULTS</a:t>
          </a:r>
          <a:endParaRPr lang="en-US" sz="1400" kern="1200"/>
        </a:p>
      </dsp:txBody>
      <dsp:txXfrm>
        <a:off x="1041181" y="3491568"/>
        <a:ext cx="5188048" cy="929193"/>
      </dsp:txXfrm>
    </dsp:sp>
    <dsp:sp modelId="{8CD44B9A-CFF7-435E-9333-C76C89034B06}">
      <dsp:nvSpPr>
        <dsp:cNvPr id="0" name=""/>
        <dsp:cNvSpPr/>
      </dsp:nvSpPr>
      <dsp:spPr>
        <a:xfrm>
          <a:off x="0" y="4682092"/>
          <a:ext cx="6245265" cy="901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690716-6FB6-429F-ADE2-BCB61FCE68AB}">
      <dsp:nvSpPr>
        <dsp:cNvPr id="0" name=""/>
        <dsp:cNvSpPr/>
      </dsp:nvSpPr>
      <dsp:spPr>
        <a:xfrm>
          <a:off x="272563" y="4855794"/>
          <a:ext cx="496054" cy="49557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25808D-4C86-4A9E-A838-C6B8EAE35EB9}">
      <dsp:nvSpPr>
        <dsp:cNvPr id="0" name=""/>
        <dsp:cNvSpPr/>
      </dsp:nvSpPr>
      <dsp:spPr>
        <a:xfrm>
          <a:off x="1041181" y="4653061"/>
          <a:ext cx="5188048" cy="9291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340" tIns="98340" rIns="98340" bIns="9834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CONCLUSIONS</a:t>
          </a:r>
          <a:br>
            <a:rPr lang="en-GB" sz="1400" kern="1200" dirty="0"/>
          </a:br>
          <a:endParaRPr lang="en-US" sz="1400" kern="1200" dirty="0"/>
        </a:p>
      </dsp:txBody>
      <dsp:txXfrm>
        <a:off x="1041181" y="4653061"/>
        <a:ext cx="5188048" cy="9291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560A6A-B486-4732-8DE6-15F81D95784B}" type="datetimeFigureOut">
              <a:rPr lang="en-GB" smtClean="0"/>
              <a:t>22/05/2024</a:t>
            </a:fld>
            <a:endParaRPr lang="en-GB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DE3A4A-6F8F-42C6-99C2-56150D0B0F6B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0897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15285FF-9347-EDC8-AA16-C1E388446A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D4313F2-ABBB-D01A-D787-3A448D2FC2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104458C-A58E-68F3-DBD5-847B0DF42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71183-5932-4A5A-925D-1EAF6A27FD7D}" type="datetime1">
              <a:rPr lang="en-GB" smtClean="0"/>
              <a:t>22/05/2024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A376AD7-E507-BA6D-6BCD-393F4DF16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E97FE7C-2B36-A1DB-7EBA-5E99969C3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4137-7F41-44C6-9350-0212C469A876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13030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DBEA64-44AD-2E51-5972-732F86BA9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DC49E88-FBC9-FED4-6939-386ECB20C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D6F235B-296D-303E-5165-CFF1DA584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606A3-D3FC-4372-B1D0-2FDAB596CD04}" type="datetime1">
              <a:rPr lang="en-GB" smtClean="0"/>
              <a:t>22/05/2024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EE5E810-2423-2037-359F-41F497F95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88C53B6-5400-5789-EE5A-459BDE010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4137-7F41-44C6-9350-0212C469A876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77781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540C7-68CE-B59C-07E7-5D49E59A9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B6027F8-2C67-0225-2789-FD5A09F20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8679CB7-E312-6869-A1FB-AC8E54405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1C770-5067-4FAF-A02D-BC6A902343D5}" type="datetime1">
              <a:rPr lang="en-GB" smtClean="0"/>
              <a:t>22/05/2024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6E0C493-87AB-7E8F-369E-3F0604A96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2963BF3-4631-BC19-2B78-D635E1035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4137-7F41-44C6-9350-0212C469A876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73696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ABE31EA-7D60-2EDB-0002-421251B26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BBFAE1E-3C37-C583-50C3-6D29B001BA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265F2D4-FD68-6516-45A7-E517C37BFA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7124CBD-E910-9914-5CF3-E67410FDA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88960-60BF-48FF-9FDF-44D183482A71}" type="datetime1">
              <a:rPr lang="en-GB" smtClean="0"/>
              <a:t>22/05/2024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0ED2547-881B-039E-74A5-F885CF5C3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6E2A11A-12E8-5985-A378-CA5F87319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4137-7F41-44C6-9350-0212C469A876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39564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D7848A0-12F9-CF5C-B411-7B9C75AE9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4EF6CE9-9594-F60A-9CBE-61953DA7E6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63ABF48-2D0E-8EBA-FBC0-69DDD31D7C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010D71B-D033-DAE7-08B1-6100E33F64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7352E47F-871C-55FB-4F13-F6034728DD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93206E6-1CC1-6164-0B49-52D59467C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2DFFB-35E7-48C8-BFE7-A720265469AF}" type="datetime1">
              <a:rPr lang="en-GB" smtClean="0"/>
              <a:t>22/05/2024</a:t>
            </a:fld>
            <a:endParaRPr lang="en-GB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0047FFC-2A48-CC35-023C-93C3B9A97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4AE426D9-427A-78BB-2025-779F71847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4137-7F41-44C6-9350-0212C469A876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87362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A43C0AA-68CD-00A3-66EE-390A50D01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EEC42C29-3B46-D9E6-3B04-712113563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DC362-992E-4611-BBF9-80A856350845}" type="datetime1">
              <a:rPr lang="en-GB" smtClean="0"/>
              <a:t>22/05/2024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99CE9DA-EB26-4241-9802-FF9AFFC63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C55DA7E-C697-C734-5343-713B73544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4137-7F41-44C6-9350-0212C469A876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05710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B74CE2A5-CD79-D08F-526F-F7D569502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3AD46-C511-4DBE-A707-D695B71D9992}" type="datetime1">
              <a:rPr lang="en-GB" smtClean="0"/>
              <a:t>22/05/2024</a:t>
            </a:fld>
            <a:endParaRPr lang="en-GB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156E456A-9E32-F96A-CB07-40AEAD9DF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1223792-C148-B40D-8CB5-3984B9048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4137-7F41-44C6-9350-0212C469A876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85839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834FDFD-5F2A-9126-4280-56ED1CF73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50EB57D-44DD-DA4D-ABA6-24143CDEB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B36BD92-1787-6787-0847-5E6C279962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4891851-CC08-A02F-4C61-444A5E7FD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ED3DA-CC32-4A64-94EB-D27CA0B5B6E1}" type="datetime1">
              <a:rPr lang="en-GB" smtClean="0"/>
              <a:t>22/05/2024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192DD9F-96A6-EF5E-ABAB-FA5A5F2D1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1E4FB36-F76B-4FF3-5CD5-5D7F7CCD5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4137-7F41-44C6-9350-0212C469A876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65006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4689398-5BA7-A57E-C63C-EF9379052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E617EC49-D171-6014-52BC-D6549E9B26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70B9159-2E0F-87C7-DB09-5DA7B2D11A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6264356-F882-0AEB-51DE-503C0E897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F0D06-EF39-4D6B-BB86-FBB9C79A6535}" type="datetime1">
              <a:rPr lang="en-GB" smtClean="0"/>
              <a:t>22/05/2024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DBC1868-CC75-8CD1-7F57-CD3D73859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2BDE3B6-F94E-EEF2-C740-AB298E599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4137-7F41-44C6-9350-0212C469A876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84720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7877E79-5BA0-5C2A-78DD-1BBA90761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89AE0B9-5B7A-7A6E-09E9-E9231E7495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891E1BE-D9D8-8507-07CD-D2316F0BC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ECE5E-9B8B-4BF3-80D4-2068BD77F73B}" type="datetime1">
              <a:rPr lang="en-GB" smtClean="0"/>
              <a:t>22/05/2024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8BBDDC0-52B7-31D5-0504-0340B1E0C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31C6B9E-A6FF-A1E8-4654-E7228A7AC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4137-7F41-44C6-9350-0212C469A876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02256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457127B-1C7D-336B-3D68-3FD2FAD47D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02BEB72-5ED7-9319-EC69-FAC9656967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4431AE1-8E53-0EB9-B497-BEC6302F1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F0FFC-EA65-4E03-AD0E-0D093D222E79}" type="datetime1">
              <a:rPr lang="en-GB" smtClean="0"/>
              <a:t>22/05/2024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86D56DE-0844-B300-BBF0-25004B0B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DE6A5BF-EA07-3CD7-F988-F2E28A71A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4137-7F41-44C6-9350-0212C469A876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05466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C8B5C80C-9D88-67BF-D497-75A03A330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A3A105D-B4EB-D182-BDAE-442F726A1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79D4286-5E91-42F2-2DC0-74C4194184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C6FB4C-DD14-4406-806A-0F668ED23087}" type="datetime1">
              <a:rPr lang="en-GB" smtClean="0"/>
              <a:t>22/05/2024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B9BDF5E-BC31-BBE5-7532-894EB34870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DCECB5A-46A8-F277-AF37-064125C20D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14137-7F41-44C6-9350-0212C469A876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290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EF2D5B1-C178-9A2D-CADD-E70EEDEA48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7861" y="929544"/>
            <a:ext cx="5071027" cy="4164217"/>
          </a:xfrm>
          <a:noFill/>
          <a:ln>
            <a:noFill/>
          </a:ln>
          <a:effectLst>
            <a:softEdge rad="685800"/>
          </a:effectLst>
        </p:spPr>
        <p:txBody>
          <a:bodyPr>
            <a:spAutoFit/>
          </a:bodyPr>
          <a:lstStyle/>
          <a:p>
            <a:r>
              <a:rPr lang="en-US" sz="4200" b="1" i="1" dirty="0">
                <a:solidFill>
                  <a:srgbClr val="C44D2D"/>
                </a:solidFill>
              </a:rPr>
              <a:t>QRS Width Detection on Electrocardiography:</a:t>
            </a:r>
            <a:br>
              <a:rPr lang="en-US" sz="4200" b="1" i="1" dirty="0">
                <a:solidFill>
                  <a:srgbClr val="C44D2D"/>
                </a:solidFill>
              </a:rPr>
            </a:br>
            <a:r>
              <a:rPr lang="en-US" sz="4200" b="1" i="1" dirty="0">
                <a:solidFill>
                  <a:srgbClr val="C44D2D"/>
                </a:solidFill>
              </a:rPr>
              <a:t> </a:t>
            </a:r>
            <a:r>
              <a:rPr lang="en-US" sz="4200" i="1" dirty="0">
                <a:solidFill>
                  <a:srgbClr val="C44D2D"/>
                </a:solidFill>
              </a:rPr>
              <a:t>a comprehensive review and implementation of detection algorithm</a:t>
            </a:r>
            <a:endParaRPr lang="en-GB" sz="4200" i="1" dirty="0">
              <a:solidFill>
                <a:srgbClr val="C44D2D"/>
              </a:solidFill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826C7C5-688F-8F23-37A7-0062F3F68E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2433" y="5823739"/>
            <a:ext cx="5579706" cy="670368"/>
          </a:xfrm>
        </p:spPr>
        <p:txBody>
          <a:bodyPr>
            <a:normAutofit fontScale="92500"/>
          </a:bodyPr>
          <a:lstStyle/>
          <a:p>
            <a:r>
              <a:rPr lang="nn-NO" dirty="0">
                <a:solidFill>
                  <a:srgbClr val="193452"/>
                </a:solidFill>
              </a:rPr>
              <a:t>A. A. Alhindi, P.  D'Avino, S. Ahmed, S. S. Kassa </a:t>
            </a:r>
            <a:endParaRPr lang="en-GB" dirty="0">
              <a:solidFill>
                <a:srgbClr val="193452"/>
              </a:solidFill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E1A0F3C5-23C2-9F48-F3CB-366C4A5345E5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401" y="33970"/>
            <a:ext cx="1382395" cy="1403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31241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0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3F771E9-5827-3D93-DF49-03AD31A09624}"/>
              </a:ext>
            </a:extLst>
          </p:cNvPr>
          <p:cNvSpPr txBox="1"/>
          <p:nvPr/>
        </p:nvSpPr>
        <p:spPr>
          <a:xfrm>
            <a:off x="394183" y="634326"/>
            <a:ext cx="3939688" cy="5583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200" b="1" i="1" kern="1200" dirty="0">
                <a:solidFill>
                  <a:srgbClr val="C44D2D"/>
                </a:solidFill>
                <a:latin typeface="+mj-lt"/>
                <a:ea typeface="+mj-ea"/>
                <a:cs typeface="+mj-cs"/>
              </a:rPr>
              <a:t>Overview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ttangolo 2">
            <a:extLst>
              <a:ext uri="{FF2B5EF4-FFF2-40B4-BE49-F238E27FC236}">
                <a16:creationId xmlns:a16="http://schemas.microsoft.com/office/drawing/2014/main" id="{0CB3C33C-E9C5-A74E-761C-81420078D37E}"/>
              </a:ext>
            </a:extLst>
          </p:cNvPr>
          <p:cNvSpPr/>
          <p:nvPr/>
        </p:nvSpPr>
        <p:spPr>
          <a:xfrm>
            <a:off x="0" y="6398765"/>
            <a:ext cx="12192000" cy="475861"/>
          </a:xfrm>
          <a:prstGeom prst="rect">
            <a:avLst/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graphicFrame>
        <p:nvGraphicFramePr>
          <p:cNvPr id="7" name="CasellaDiTesto 4">
            <a:extLst>
              <a:ext uri="{FF2B5EF4-FFF2-40B4-BE49-F238E27FC236}">
                <a16:creationId xmlns:a16="http://schemas.microsoft.com/office/drawing/2014/main" id="{4C589864-B86E-83EF-B4F5-9102A50C59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4129141"/>
              </p:ext>
            </p:extLst>
          </p:nvPr>
        </p:nvGraphicFramePr>
        <p:xfrm>
          <a:off x="5182908" y="634326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627708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C0C82A5B-0ABA-A5E7-9AA2-83439DBEC988}"/>
              </a:ext>
            </a:extLst>
          </p:cNvPr>
          <p:cNvSpPr/>
          <p:nvPr/>
        </p:nvSpPr>
        <p:spPr>
          <a:xfrm>
            <a:off x="0" y="-19398"/>
            <a:ext cx="12192000" cy="709593"/>
          </a:xfrm>
          <a:prstGeom prst="rect">
            <a:avLst/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C6EBF5"/>
              </a:solidFill>
            </a:endParaRP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06BE9EDE-595F-1BDF-0D1D-2FB3FB285F27}"/>
              </a:ext>
            </a:extLst>
          </p:cNvPr>
          <p:cNvSpPr/>
          <p:nvPr/>
        </p:nvSpPr>
        <p:spPr>
          <a:xfrm>
            <a:off x="684407" y="-23829"/>
            <a:ext cx="2043717" cy="709593"/>
          </a:xfrm>
          <a:prstGeom prst="roundRect">
            <a:avLst>
              <a:gd name="adj" fmla="val 16667"/>
            </a:avLst>
          </a:prstGeom>
          <a:solidFill>
            <a:srgbClr val="C6E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rgbClr val="5080A7"/>
                </a:solidFill>
              </a:rPr>
              <a:t>INTRODUCTION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79879E83-4E1F-9072-DCB0-6E9A27BD0367}"/>
              </a:ext>
            </a:extLst>
          </p:cNvPr>
          <p:cNvSpPr/>
          <p:nvPr/>
        </p:nvSpPr>
        <p:spPr>
          <a:xfrm>
            <a:off x="0" y="6563360"/>
            <a:ext cx="12192000" cy="311266"/>
          </a:xfrm>
          <a:prstGeom prst="rect">
            <a:avLst/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pic>
        <p:nvPicPr>
          <p:cNvPr id="10" name="Immagine 9" descr="Immagine che contiene linea, diagramma">
            <a:extLst>
              <a:ext uri="{FF2B5EF4-FFF2-40B4-BE49-F238E27FC236}">
                <a16:creationId xmlns:a16="http://schemas.microsoft.com/office/drawing/2014/main" id="{D47391B1-3500-F7CD-EF5A-07B444C9AA4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21" t="8331" r="18458" b="14119"/>
          <a:stretch/>
        </p:blipFill>
        <p:spPr>
          <a:xfrm>
            <a:off x="11575" y="1528810"/>
            <a:ext cx="5547087" cy="4602480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ADE00636-F448-6368-8E23-18C19EAC4E96}"/>
              </a:ext>
            </a:extLst>
          </p:cNvPr>
          <p:cNvSpPr txBox="1"/>
          <p:nvPr/>
        </p:nvSpPr>
        <p:spPr>
          <a:xfrm>
            <a:off x="2573668" y="1243833"/>
            <a:ext cx="792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rgbClr val="19345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3422E15-FE8C-46D9-EA6E-4510D525267C}"/>
              </a:ext>
            </a:extLst>
          </p:cNvPr>
          <p:cNvSpPr txBox="1"/>
          <p:nvPr/>
        </p:nvSpPr>
        <p:spPr>
          <a:xfrm>
            <a:off x="2352923" y="5149997"/>
            <a:ext cx="792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rgbClr val="19345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Q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D642DAA5-E581-979A-343D-05C8A57A3C09}"/>
              </a:ext>
            </a:extLst>
          </p:cNvPr>
          <p:cNvSpPr txBox="1"/>
          <p:nvPr/>
        </p:nvSpPr>
        <p:spPr>
          <a:xfrm>
            <a:off x="2749163" y="5970791"/>
            <a:ext cx="792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rgbClr val="19345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B2AEFF08-D896-C740-3A15-E773670636EF}"/>
              </a:ext>
            </a:extLst>
          </p:cNvPr>
          <p:cNvSpPr txBox="1"/>
          <p:nvPr/>
        </p:nvSpPr>
        <p:spPr>
          <a:xfrm>
            <a:off x="1210087" y="3830050"/>
            <a:ext cx="9331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solidFill>
                  <a:srgbClr val="19345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 wave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59394E20-A21E-0AFA-27A1-A0F26B4094B2}"/>
              </a:ext>
            </a:extLst>
          </p:cNvPr>
          <p:cNvSpPr txBox="1"/>
          <p:nvPr/>
        </p:nvSpPr>
        <p:spPr>
          <a:xfrm>
            <a:off x="3791856" y="3692417"/>
            <a:ext cx="9331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solidFill>
                  <a:srgbClr val="19345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 wave</a:t>
            </a:r>
          </a:p>
        </p:txBody>
      </p:sp>
      <p:cxnSp>
        <p:nvCxnSpPr>
          <p:cNvPr id="17" name="Connettore diritto 16">
            <a:extLst>
              <a:ext uri="{FF2B5EF4-FFF2-40B4-BE49-F238E27FC236}">
                <a16:creationId xmlns:a16="http://schemas.microsoft.com/office/drawing/2014/main" id="{5B047514-879A-975B-E174-4625ED5E5649}"/>
              </a:ext>
            </a:extLst>
          </p:cNvPr>
          <p:cNvCxnSpPr>
            <a:cxnSpLocks/>
          </p:cNvCxnSpPr>
          <p:nvPr/>
        </p:nvCxnSpPr>
        <p:spPr>
          <a:xfrm flipV="1">
            <a:off x="2372154" y="1147428"/>
            <a:ext cx="0" cy="3588541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Connettore diritto 19">
            <a:extLst>
              <a:ext uri="{FF2B5EF4-FFF2-40B4-BE49-F238E27FC236}">
                <a16:creationId xmlns:a16="http://schemas.microsoft.com/office/drawing/2014/main" id="{D99BD084-6C22-3C44-B05A-740D63EE2528}"/>
              </a:ext>
            </a:extLst>
          </p:cNvPr>
          <p:cNvCxnSpPr>
            <a:cxnSpLocks/>
          </p:cNvCxnSpPr>
          <p:nvPr/>
        </p:nvCxnSpPr>
        <p:spPr>
          <a:xfrm flipV="1">
            <a:off x="3173393" y="1159954"/>
            <a:ext cx="0" cy="3588540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Connettore diritto 24">
            <a:extLst>
              <a:ext uri="{FF2B5EF4-FFF2-40B4-BE49-F238E27FC236}">
                <a16:creationId xmlns:a16="http://schemas.microsoft.com/office/drawing/2014/main" id="{3A0C2C28-4A6E-B72F-237C-595DF26CEF24}"/>
              </a:ext>
            </a:extLst>
          </p:cNvPr>
          <p:cNvCxnSpPr>
            <a:cxnSpLocks/>
          </p:cNvCxnSpPr>
          <p:nvPr/>
        </p:nvCxnSpPr>
        <p:spPr>
          <a:xfrm>
            <a:off x="2443349" y="1147428"/>
            <a:ext cx="616906" cy="0"/>
          </a:xfrm>
          <a:prstGeom prst="line">
            <a:avLst/>
          </a:prstGeom>
          <a:ln w="38100">
            <a:solidFill>
              <a:srgbClr val="F4913E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59A4FD0D-50B7-5C79-128A-91E2489F2FEA}"/>
              </a:ext>
            </a:extLst>
          </p:cNvPr>
          <p:cNvSpPr txBox="1"/>
          <p:nvPr/>
        </p:nvSpPr>
        <p:spPr>
          <a:xfrm>
            <a:off x="1989703" y="814487"/>
            <a:ext cx="15189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rgbClr val="F4913E"/>
                </a:solidFill>
              </a:rPr>
              <a:t>QRS COMPLEX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1B21360B-8A1C-775C-4601-ED06CB3AA0D6}"/>
              </a:ext>
            </a:extLst>
          </p:cNvPr>
          <p:cNvSpPr txBox="1"/>
          <p:nvPr/>
        </p:nvSpPr>
        <p:spPr>
          <a:xfrm>
            <a:off x="5646918" y="576082"/>
            <a:ext cx="6357871" cy="6969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C44D2D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 ECG</a:t>
            </a:r>
            <a:endParaRPr lang="en-US" sz="2000" b="0" i="0" dirty="0">
              <a:solidFill>
                <a:srgbClr val="C44D2D"/>
              </a:solidFill>
              <a:effectLst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2000" b="0" i="0" dirty="0">
                <a:solidFill>
                  <a:srgbClr val="193452"/>
                </a:solidFill>
                <a:effectLst/>
                <a:cs typeface="Times New Roman" panose="02020603050405020304" pitchFamily="18" charset="0"/>
              </a:rPr>
              <a:t>An </a:t>
            </a:r>
            <a:r>
              <a:rPr lang="en-US" sz="2000" b="1" dirty="0">
                <a:solidFill>
                  <a:srgbClr val="002060"/>
                </a:solidFill>
                <a:effectLst/>
                <a:cs typeface="Times New Roman" panose="02020603050405020304" pitchFamily="18" charset="0"/>
              </a:rPr>
              <a:t>electrocardiogram (</a:t>
            </a:r>
            <a:r>
              <a:rPr lang="en-US" sz="2000" b="1" dirty="0">
                <a:solidFill>
                  <a:srgbClr val="002060"/>
                </a:solidFill>
                <a:cs typeface="Times New Roman" panose="02020603050405020304" pitchFamily="18" charset="0"/>
              </a:rPr>
              <a:t>ECG) </a:t>
            </a:r>
            <a:r>
              <a:rPr lang="en-US" sz="2000" b="0" i="0" dirty="0">
                <a:solidFill>
                  <a:srgbClr val="193452"/>
                </a:solidFill>
                <a:effectLst/>
                <a:cs typeface="Times New Roman" panose="02020603050405020304" pitchFamily="18" charset="0"/>
              </a:rPr>
              <a:t>is a </a:t>
            </a:r>
            <a:r>
              <a:rPr lang="en-US" sz="2000" dirty="0">
                <a:solidFill>
                  <a:srgbClr val="193452"/>
                </a:solidFill>
                <a:cs typeface="Times New Roman" panose="02020603050405020304" pitchFamily="18" charset="0"/>
              </a:rPr>
              <a:t>graphical representation</a:t>
            </a:r>
            <a:r>
              <a:rPr lang="en-US" sz="2000" b="0" i="0" dirty="0">
                <a:solidFill>
                  <a:srgbClr val="193452"/>
                </a:solidFill>
                <a:effectLst/>
                <a:cs typeface="Times New Roman" panose="02020603050405020304" pitchFamily="18" charset="0"/>
              </a:rPr>
              <a:t> of the electrical conduction of the heart.</a:t>
            </a:r>
          </a:p>
          <a:p>
            <a:pPr>
              <a:lnSpc>
                <a:spcPct val="150000"/>
              </a:lnSpc>
            </a:pPr>
            <a:r>
              <a:rPr lang="en-GB" sz="2000" u="sng" dirty="0">
                <a:solidFill>
                  <a:srgbClr val="193452"/>
                </a:solidFill>
                <a:cs typeface="Times New Roman" panose="02020603050405020304" pitchFamily="18" charset="0"/>
              </a:rPr>
              <a:t>Components: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193452"/>
                </a:solidFill>
                <a:cs typeface="Times New Roman" panose="02020603050405020304" pitchFamily="18" charset="0"/>
              </a:rPr>
              <a:t>P wave</a:t>
            </a:r>
            <a:r>
              <a:rPr lang="en-GB" sz="2000" dirty="0">
                <a:solidFill>
                  <a:srgbClr val="193452"/>
                </a:solidFill>
                <a:cs typeface="Times New Roman" panose="02020603050405020304" pitchFamily="18" charset="0"/>
              </a:rPr>
              <a:t>: Atrial depolarization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193452"/>
                </a:solidFill>
                <a:cs typeface="Times New Roman" panose="02020603050405020304" pitchFamily="18" charset="0"/>
              </a:rPr>
              <a:t>QRS complex</a:t>
            </a:r>
            <a:r>
              <a:rPr lang="en-GB" sz="2000" dirty="0">
                <a:solidFill>
                  <a:srgbClr val="193452"/>
                </a:solidFill>
                <a:cs typeface="Times New Roman" panose="02020603050405020304" pitchFamily="18" charset="0"/>
              </a:rPr>
              <a:t>: Ventricular depolarization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193452"/>
                </a:solidFill>
                <a:cs typeface="Times New Roman" panose="02020603050405020304" pitchFamily="18" charset="0"/>
              </a:rPr>
              <a:t>T wave</a:t>
            </a:r>
            <a:r>
              <a:rPr lang="en-GB" sz="2000" dirty="0">
                <a:solidFill>
                  <a:srgbClr val="193452"/>
                </a:solidFill>
                <a:cs typeface="Times New Roman" panose="02020603050405020304" pitchFamily="18" charset="0"/>
              </a:rPr>
              <a:t>: Ventricular repolarization</a:t>
            </a:r>
          </a:p>
          <a:p>
            <a:pPr>
              <a:lnSpc>
                <a:spcPct val="150000"/>
              </a:lnSpc>
            </a:pPr>
            <a:r>
              <a:rPr lang="en-GB" sz="2000" dirty="0">
                <a:solidFill>
                  <a:srgbClr val="C44D2D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Why the QRS complex detection is so important?</a:t>
            </a:r>
          </a:p>
          <a:p>
            <a:pPr marL="285750" indent="-285750">
              <a:lnSpc>
                <a:spcPct val="150000"/>
              </a:lnSpc>
              <a:buClr>
                <a:srgbClr val="C44D2D"/>
              </a:buClr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193452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I</a:t>
            </a:r>
            <a:r>
              <a:rPr lang="en-US" sz="2000" dirty="0">
                <a:solidFill>
                  <a:srgbClr val="193452"/>
                </a:solidFill>
                <a:effectLst/>
                <a:ea typeface="ADLaM Display" panose="02010000000000000000" pitchFamily="2" charset="0"/>
                <a:cs typeface="ADLaM Display" panose="02010000000000000000" pitchFamily="2" charset="0"/>
              </a:rPr>
              <a:t>ts utility in identifying various cardiac issues including myocardial infarction, arrhythmias and conduction abnormalities.</a:t>
            </a:r>
          </a:p>
          <a:p>
            <a:pPr marL="285750" indent="-285750">
              <a:lnSpc>
                <a:spcPct val="150000"/>
              </a:lnSpc>
              <a:buClr>
                <a:srgbClr val="C44D2D"/>
              </a:buClr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193452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A</a:t>
            </a:r>
            <a:r>
              <a:rPr lang="en-US" sz="2000" dirty="0">
                <a:solidFill>
                  <a:srgbClr val="193452"/>
                </a:solidFill>
                <a:effectLst/>
                <a:ea typeface="ADLaM Display" panose="02010000000000000000" pitchFamily="2" charset="0"/>
                <a:cs typeface="ADLaM Display" panose="02010000000000000000" pitchFamily="2" charset="0"/>
              </a:rPr>
              <a:t>ccurate detection and measurement of QRS width are crucial for clinical diagnosis and treatment decisions .</a:t>
            </a:r>
            <a:endParaRPr lang="en-GB" sz="2000" dirty="0">
              <a:solidFill>
                <a:srgbClr val="193452"/>
              </a:solidFill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>
              <a:lnSpc>
                <a:spcPct val="150000"/>
              </a:lnSpc>
            </a:pPr>
            <a:endParaRPr lang="en-GB" sz="2000" dirty="0">
              <a:solidFill>
                <a:srgbClr val="C44D2D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>
              <a:lnSpc>
                <a:spcPct val="150000"/>
              </a:lnSpc>
            </a:pPr>
            <a:endParaRPr lang="en-US" sz="2000" dirty="0">
              <a:solidFill>
                <a:srgbClr val="193452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AC9D8732-7FBF-B662-7FE5-E629BA875DAE}"/>
              </a:ext>
            </a:extLst>
          </p:cNvPr>
          <p:cNvSpPr/>
          <p:nvPr/>
        </p:nvSpPr>
        <p:spPr>
          <a:xfrm>
            <a:off x="2846650" y="-23830"/>
            <a:ext cx="2043717" cy="709593"/>
          </a:xfrm>
          <a:prstGeom prst="roundRect">
            <a:avLst/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 dirty="0">
                <a:solidFill>
                  <a:srgbClr val="5080A7"/>
                </a:solidFill>
              </a:rPr>
              <a:t>LITERATURE REVIEW</a:t>
            </a: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7706680F-07BF-2832-7128-DD2F0816071F}"/>
              </a:ext>
            </a:extLst>
          </p:cNvPr>
          <p:cNvSpPr/>
          <p:nvPr/>
        </p:nvSpPr>
        <p:spPr>
          <a:xfrm>
            <a:off x="5034388" y="-25710"/>
            <a:ext cx="2043717" cy="709593"/>
          </a:xfrm>
          <a:prstGeom prst="roundRect">
            <a:avLst/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 dirty="0">
                <a:solidFill>
                  <a:srgbClr val="5080A7"/>
                </a:solidFill>
              </a:rPr>
              <a:t>PROPOSED ALGORITHM</a:t>
            </a: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A235ECF8-817E-1080-C1A5-EA2917D83442}"/>
              </a:ext>
            </a:extLst>
          </p:cNvPr>
          <p:cNvSpPr/>
          <p:nvPr/>
        </p:nvSpPr>
        <p:spPr>
          <a:xfrm>
            <a:off x="7222126" y="-25711"/>
            <a:ext cx="2043717" cy="709593"/>
          </a:xfrm>
          <a:prstGeom prst="roundRect">
            <a:avLst/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>
                <a:solidFill>
                  <a:srgbClr val="5080A7"/>
                </a:solidFill>
              </a:rPr>
              <a:t>RESULTS</a:t>
            </a:r>
            <a:endParaRPr lang="en-GB" sz="1800" b="1" dirty="0">
              <a:solidFill>
                <a:srgbClr val="5080A7"/>
              </a:solidFill>
            </a:endParaRP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517213B9-D121-984B-7D9C-7483793DDA85}"/>
              </a:ext>
            </a:extLst>
          </p:cNvPr>
          <p:cNvSpPr/>
          <p:nvPr/>
        </p:nvSpPr>
        <p:spPr>
          <a:xfrm>
            <a:off x="9409864" y="-25711"/>
            <a:ext cx="2043717" cy="709593"/>
          </a:xfrm>
          <a:prstGeom prst="roundRect">
            <a:avLst/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>
                <a:solidFill>
                  <a:srgbClr val="5080A7"/>
                </a:solidFill>
              </a:rPr>
              <a:t>CONCLUSIONS</a:t>
            </a:r>
            <a:endParaRPr lang="en-GB" sz="1800" b="1" dirty="0">
              <a:solidFill>
                <a:srgbClr val="5080A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914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79879E83-4E1F-9072-DCB0-6E9A27BD0367}"/>
              </a:ext>
            </a:extLst>
          </p:cNvPr>
          <p:cNvSpPr/>
          <p:nvPr/>
        </p:nvSpPr>
        <p:spPr>
          <a:xfrm>
            <a:off x="0" y="6563360"/>
            <a:ext cx="12192000" cy="311266"/>
          </a:xfrm>
          <a:prstGeom prst="rect">
            <a:avLst/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0F9C8FBB-6677-F187-5118-DEE5E2506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568" y="1005374"/>
            <a:ext cx="4793995" cy="5403244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4225F9F7-644E-EC99-E92D-350DF7B07551}"/>
              </a:ext>
            </a:extLst>
          </p:cNvPr>
          <p:cNvSpPr txBox="1"/>
          <p:nvPr/>
        </p:nvSpPr>
        <p:spPr>
          <a:xfrm>
            <a:off x="5046563" y="709593"/>
            <a:ext cx="6892869" cy="5866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C44D2D"/>
                </a:solidFill>
                <a:effectLst/>
                <a:ea typeface="Times New Roman" panose="02020603050405020304" pitchFamily="18" charset="0"/>
              </a:rPr>
              <a:t>Inclusion criteria</a:t>
            </a:r>
            <a:endParaRPr lang="it-IT" dirty="0">
              <a:solidFill>
                <a:srgbClr val="C44D2D"/>
              </a:solidFill>
              <a:effectLst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pc="-5" dirty="0">
                <a:solidFill>
                  <a:srgbClr val="193452"/>
                </a:solidFill>
                <a:ea typeface="SimSun" panose="02010600030101010101" pitchFamily="2" charset="-122"/>
              </a:rPr>
              <a:t>Focus</a:t>
            </a:r>
            <a:r>
              <a:rPr lang="en-US" spc="-5" dirty="0">
                <a:solidFill>
                  <a:srgbClr val="193452"/>
                </a:solidFill>
                <a:effectLst/>
                <a:ea typeface="SimSun" panose="02010600030101010101" pitchFamily="2" charset="-122"/>
              </a:rPr>
              <a:t> on detection</a:t>
            </a:r>
            <a:r>
              <a:rPr lang="en-US" b="1" dirty="0">
                <a:solidFill>
                  <a:srgbClr val="193452"/>
                </a:solidFill>
                <a:effectLst/>
                <a:ea typeface="Times New Roman" panose="02020603050405020304" pitchFamily="18" charset="0"/>
              </a:rPr>
              <a:t>,</a:t>
            </a:r>
            <a:r>
              <a:rPr lang="en-US" spc="-5" dirty="0">
                <a:solidFill>
                  <a:srgbClr val="193452"/>
                </a:solidFill>
                <a:effectLst/>
                <a:ea typeface="SimSun" panose="02010600030101010101" pitchFamily="2" charset="-122"/>
              </a:rPr>
              <a:t> identification and characterization of QRS width on ECG.</a:t>
            </a:r>
            <a:endParaRPr lang="it-IT" dirty="0">
              <a:solidFill>
                <a:srgbClr val="193452"/>
              </a:solidFill>
              <a:effectLst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93452"/>
                </a:solidFill>
                <a:ea typeface="Times New Roman" panose="02020603050405020304" pitchFamily="18" charset="0"/>
              </a:rPr>
              <a:t>Presence of</a:t>
            </a:r>
            <a:r>
              <a:rPr lang="en-US" dirty="0">
                <a:solidFill>
                  <a:srgbClr val="193452"/>
                </a:solidFill>
                <a:effectLst/>
                <a:ea typeface="Times New Roman" panose="02020603050405020304" pitchFamily="18" charset="0"/>
              </a:rPr>
              <a:t> methods for QRS width measurement, QRS width as an outcome measure and QRS width detection techniques.</a:t>
            </a:r>
            <a:endParaRPr lang="it-IT" dirty="0">
              <a:solidFill>
                <a:srgbClr val="193452"/>
              </a:solidFill>
              <a:effectLst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93452"/>
                </a:solidFill>
                <a:effectLst/>
                <a:ea typeface="Times New Roman" panose="02020603050405020304" pitchFamily="18" charset="0"/>
              </a:rPr>
              <a:t>Articles published between 2014 and 2022 and in English. 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C44D2D"/>
                </a:solidFill>
                <a:effectLst/>
                <a:ea typeface="Times New Roman" panose="02020603050405020304" pitchFamily="18" charset="0"/>
              </a:rPr>
              <a:t>Exclusion criteria</a:t>
            </a:r>
            <a:endParaRPr lang="it-IT" dirty="0">
              <a:solidFill>
                <a:srgbClr val="C44D2D"/>
              </a:solidFill>
              <a:effectLst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93452"/>
                </a:solidFill>
                <a:effectLst/>
                <a:ea typeface="Times New Roman" panose="02020603050405020304" pitchFamily="18" charset="0"/>
              </a:rPr>
              <a:t>Studies not directly related to QRS width detection or ECG analysis.</a:t>
            </a:r>
            <a:endParaRPr lang="it-IT" dirty="0">
              <a:solidFill>
                <a:srgbClr val="193452"/>
              </a:solidFill>
              <a:effectLst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93452"/>
                </a:solidFill>
                <a:effectLst/>
                <a:ea typeface="Times New Roman" panose="02020603050405020304" pitchFamily="18" charset="0"/>
              </a:rPr>
              <a:t>Articles not available in full-text or inaccessible through subscribed databases.</a:t>
            </a:r>
            <a:endParaRPr lang="it-IT" dirty="0">
              <a:solidFill>
                <a:srgbClr val="193452"/>
              </a:solidFill>
              <a:effectLst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93452"/>
                </a:solidFill>
                <a:effectLst/>
                <a:ea typeface="Times New Roman" panose="02020603050405020304" pitchFamily="18" charset="0"/>
              </a:rPr>
              <a:t>Studies lacking detailed descriptions of QRS width detection methods.</a:t>
            </a:r>
            <a:endParaRPr lang="it-IT" dirty="0">
              <a:solidFill>
                <a:srgbClr val="193452"/>
              </a:solidFill>
              <a:effectLst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93452"/>
                </a:solidFill>
                <a:effectLst/>
                <a:ea typeface="Times New Roman" panose="02020603050405020304" pitchFamily="18" charset="0"/>
              </a:rPr>
              <a:t>Articles published before 2014 and after 2022.</a:t>
            </a:r>
            <a:endParaRPr lang="it-IT" dirty="0">
              <a:solidFill>
                <a:srgbClr val="193452"/>
              </a:solidFill>
              <a:effectLst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GB" dirty="0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B57C9543-2491-C2FB-A74A-AE7347AC7710}"/>
              </a:ext>
            </a:extLst>
          </p:cNvPr>
          <p:cNvSpPr/>
          <p:nvPr/>
        </p:nvSpPr>
        <p:spPr>
          <a:xfrm>
            <a:off x="0" y="-19398"/>
            <a:ext cx="12192000" cy="709593"/>
          </a:xfrm>
          <a:prstGeom prst="rect">
            <a:avLst/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C6EBF5"/>
              </a:solidFill>
            </a:endParaRPr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EBD44590-C20F-604F-B6DA-B53DED6A3114}"/>
              </a:ext>
            </a:extLst>
          </p:cNvPr>
          <p:cNvSpPr/>
          <p:nvPr/>
        </p:nvSpPr>
        <p:spPr>
          <a:xfrm>
            <a:off x="684407" y="-23829"/>
            <a:ext cx="2043717" cy="709593"/>
          </a:xfrm>
          <a:prstGeom prst="roundRect">
            <a:avLst>
              <a:gd name="adj" fmla="val 16667"/>
            </a:avLst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rgbClr val="C6EBF5"/>
                </a:solidFill>
              </a:rPr>
              <a:t>INTRODUCTION</a:t>
            </a:r>
          </a:p>
        </p:txBody>
      </p:sp>
      <p:sp>
        <p:nvSpPr>
          <p:cNvPr id="18" name="Rettangolo con angoli arrotondati 17">
            <a:extLst>
              <a:ext uri="{FF2B5EF4-FFF2-40B4-BE49-F238E27FC236}">
                <a16:creationId xmlns:a16="http://schemas.microsoft.com/office/drawing/2014/main" id="{CB9DE515-43CB-D265-CFB0-40D90233DC07}"/>
              </a:ext>
            </a:extLst>
          </p:cNvPr>
          <p:cNvSpPr/>
          <p:nvPr/>
        </p:nvSpPr>
        <p:spPr>
          <a:xfrm>
            <a:off x="2846650" y="-23830"/>
            <a:ext cx="2043717" cy="709593"/>
          </a:xfrm>
          <a:prstGeom prst="roundRect">
            <a:avLst/>
          </a:prstGeom>
          <a:solidFill>
            <a:srgbClr val="C6E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 dirty="0">
                <a:solidFill>
                  <a:srgbClr val="5080A7"/>
                </a:solidFill>
              </a:rPr>
              <a:t>LITERATURE REVIEW</a:t>
            </a:r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8BEBEEB4-C18A-01C5-6D69-3AD573DC05F3}"/>
              </a:ext>
            </a:extLst>
          </p:cNvPr>
          <p:cNvSpPr/>
          <p:nvPr/>
        </p:nvSpPr>
        <p:spPr>
          <a:xfrm>
            <a:off x="5034388" y="-25710"/>
            <a:ext cx="2043717" cy="709593"/>
          </a:xfrm>
          <a:prstGeom prst="roundRect">
            <a:avLst/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 dirty="0">
                <a:solidFill>
                  <a:srgbClr val="5080A7"/>
                </a:solidFill>
              </a:rPr>
              <a:t>PROPOSED ALGORITHM</a:t>
            </a:r>
          </a:p>
        </p:txBody>
      </p: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4C376509-3E11-A585-C396-6FAC6CC1B885}"/>
              </a:ext>
            </a:extLst>
          </p:cNvPr>
          <p:cNvSpPr/>
          <p:nvPr/>
        </p:nvSpPr>
        <p:spPr>
          <a:xfrm>
            <a:off x="7222126" y="-25711"/>
            <a:ext cx="2043717" cy="709593"/>
          </a:xfrm>
          <a:prstGeom prst="roundRect">
            <a:avLst/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>
                <a:solidFill>
                  <a:srgbClr val="5080A7"/>
                </a:solidFill>
              </a:rPr>
              <a:t>RESULTS</a:t>
            </a:r>
            <a:endParaRPr lang="en-GB" sz="1800" b="1" dirty="0">
              <a:solidFill>
                <a:srgbClr val="5080A7"/>
              </a:solidFill>
            </a:endParaRPr>
          </a:p>
        </p:txBody>
      </p:sp>
      <p:sp>
        <p:nvSpPr>
          <p:cNvPr id="21" name="Rettangolo con angoli arrotondati 20">
            <a:extLst>
              <a:ext uri="{FF2B5EF4-FFF2-40B4-BE49-F238E27FC236}">
                <a16:creationId xmlns:a16="http://schemas.microsoft.com/office/drawing/2014/main" id="{6A24BDFC-2A64-956D-B172-989A14DB60CD}"/>
              </a:ext>
            </a:extLst>
          </p:cNvPr>
          <p:cNvSpPr/>
          <p:nvPr/>
        </p:nvSpPr>
        <p:spPr>
          <a:xfrm>
            <a:off x="9409864" y="-25711"/>
            <a:ext cx="2043717" cy="709593"/>
          </a:xfrm>
          <a:prstGeom prst="roundRect">
            <a:avLst/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>
                <a:solidFill>
                  <a:srgbClr val="5080A7"/>
                </a:solidFill>
              </a:rPr>
              <a:t>CONCLUSIONS</a:t>
            </a:r>
            <a:endParaRPr lang="en-GB" sz="1800" b="1" dirty="0">
              <a:solidFill>
                <a:srgbClr val="5080A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6810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79879E83-4E1F-9072-DCB0-6E9A27BD0367}"/>
              </a:ext>
            </a:extLst>
          </p:cNvPr>
          <p:cNvSpPr/>
          <p:nvPr/>
        </p:nvSpPr>
        <p:spPr>
          <a:xfrm>
            <a:off x="0" y="6563360"/>
            <a:ext cx="12192000" cy="311266"/>
          </a:xfrm>
          <a:prstGeom prst="rect">
            <a:avLst/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4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A2E5E7D7-BCF7-BF40-129C-DB6B1871C60B}"/>
              </a:ext>
            </a:extLst>
          </p:cNvPr>
          <p:cNvSpPr txBox="1"/>
          <p:nvPr/>
        </p:nvSpPr>
        <p:spPr>
          <a:xfrm>
            <a:off x="312517" y="1250066"/>
            <a:ext cx="9456516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i="1" dirty="0">
                <a:solidFill>
                  <a:srgbClr val="C44D2D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Most common algorithms found in literature:</a:t>
            </a:r>
          </a:p>
          <a:p>
            <a:endParaRPr lang="en-GB" sz="2800" i="1" dirty="0">
              <a:solidFill>
                <a:srgbClr val="C44D2D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457200" indent="-457200">
              <a:lnSpc>
                <a:spcPct val="150000"/>
              </a:lnSpc>
              <a:buClr>
                <a:srgbClr val="C44D2D"/>
              </a:buClr>
              <a:buFont typeface="Wingdings" panose="05000000000000000000" pitchFamily="2" charset="2"/>
              <a:buChar char="v"/>
            </a:pPr>
            <a:r>
              <a:rPr lang="en-US" sz="2800" b="1" i="1" dirty="0">
                <a:solidFill>
                  <a:srgbClr val="1E558E"/>
                </a:solidFill>
                <a:effectLst/>
                <a:ea typeface="Times New Roman" panose="02020603050405020304" pitchFamily="18" charset="0"/>
              </a:rPr>
              <a:t>Pan-Tompkins Algorithm</a:t>
            </a:r>
            <a:endParaRPr lang="en-GB" sz="2800" b="1" i="1" dirty="0">
              <a:solidFill>
                <a:srgbClr val="1E558E"/>
              </a:solidFill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457200" indent="-457200">
              <a:lnSpc>
                <a:spcPct val="150000"/>
              </a:lnSpc>
              <a:buClr>
                <a:srgbClr val="C44D2D"/>
              </a:buClr>
              <a:buFont typeface="Wingdings" panose="05000000000000000000" pitchFamily="2" charset="2"/>
              <a:buChar char="v"/>
            </a:pPr>
            <a:r>
              <a:rPr lang="en-US" sz="2800" b="1" i="1" dirty="0">
                <a:solidFill>
                  <a:srgbClr val="1E558E"/>
                </a:solidFill>
                <a:effectLst/>
                <a:ea typeface="Times New Roman" panose="02020603050405020304" pitchFamily="18" charset="0"/>
              </a:rPr>
              <a:t>First-Derivative Based Algorithms</a:t>
            </a:r>
            <a:endParaRPr lang="en-GB" sz="2800" b="1" i="1" dirty="0">
              <a:solidFill>
                <a:srgbClr val="1E558E"/>
              </a:solidFill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457200" indent="-457200">
              <a:lnSpc>
                <a:spcPct val="150000"/>
              </a:lnSpc>
              <a:buClr>
                <a:srgbClr val="C44D2D"/>
              </a:buClr>
              <a:buFont typeface="Wingdings" panose="05000000000000000000" pitchFamily="2" charset="2"/>
              <a:buChar char="v"/>
            </a:pPr>
            <a:r>
              <a:rPr lang="en-US" sz="2800" b="1" i="1" dirty="0">
                <a:solidFill>
                  <a:srgbClr val="1E558E"/>
                </a:solidFill>
                <a:effectLst/>
                <a:ea typeface="Times New Roman" panose="02020603050405020304" pitchFamily="18" charset="0"/>
              </a:rPr>
              <a:t>Wavelet-Based Algorithms</a:t>
            </a:r>
            <a:endParaRPr lang="en-GB" sz="2800" b="1" i="1" dirty="0">
              <a:solidFill>
                <a:srgbClr val="1E558E"/>
              </a:solidFill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457200" indent="-457200">
              <a:lnSpc>
                <a:spcPct val="150000"/>
              </a:lnSpc>
              <a:buClr>
                <a:srgbClr val="C44D2D"/>
              </a:buClr>
              <a:buFont typeface="Wingdings" panose="05000000000000000000" pitchFamily="2" charset="2"/>
              <a:buChar char="v"/>
            </a:pPr>
            <a:r>
              <a:rPr lang="en-US" sz="2800" b="1" i="1" dirty="0">
                <a:solidFill>
                  <a:srgbClr val="1E558E"/>
                </a:solidFill>
                <a:effectLst/>
                <a:ea typeface="Times New Roman" panose="02020603050405020304" pitchFamily="18" charset="0"/>
              </a:rPr>
              <a:t>Neural Network-Based Algorithms</a:t>
            </a:r>
          </a:p>
          <a:p>
            <a:pPr marL="457200" indent="-457200">
              <a:lnSpc>
                <a:spcPct val="150000"/>
              </a:lnSpc>
              <a:buClr>
                <a:srgbClr val="C44D2D"/>
              </a:buClr>
              <a:buFont typeface="Wingdings" panose="05000000000000000000" pitchFamily="2" charset="2"/>
              <a:buChar char="v"/>
            </a:pPr>
            <a:r>
              <a:rPr lang="en-US" sz="2800" b="1" i="1" dirty="0">
                <a:solidFill>
                  <a:srgbClr val="1E558E"/>
                </a:solidFill>
                <a:effectLst/>
                <a:ea typeface="Times New Roman" panose="02020603050405020304" pitchFamily="18" charset="0"/>
              </a:rPr>
              <a:t>Knowledge-Based Methods</a:t>
            </a:r>
            <a:endParaRPr lang="en-GB" sz="2800" i="1" dirty="0">
              <a:solidFill>
                <a:srgbClr val="1E558E"/>
              </a:solidFill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GB" sz="3200" b="1" i="1" dirty="0">
              <a:solidFill>
                <a:srgbClr val="C44D2D"/>
              </a:solidFill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C4AA4EAD-82A4-7F35-4FAC-5A6F1C70BB41}"/>
              </a:ext>
            </a:extLst>
          </p:cNvPr>
          <p:cNvSpPr/>
          <p:nvPr/>
        </p:nvSpPr>
        <p:spPr>
          <a:xfrm>
            <a:off x="312517" y="2060294"/>
            <a:ext cx="4467827" cy="856526"/>
          </a:xfrm>
          <a:prstGeom prst="ellipse">
            <a:avLst/>
          </a:prstGeom>
          <a:noFill/>
          <a:ln w="38100">
            <a:solidFill>
              <a:srgbClr val="C44D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9448D3C3-59E2-6E9E-981C-3E7414CD3715}"/>
              </a:ext>
            </a:extLst>
          </p:cNvPr>
          <p:cNvSpPr/>
          <p:nvPr/>
        </p:nvSpPr>
        <p:spPr>
          <a:xfrm>
            <a:off x="0" y="-19398"/>
            <a:ext cx="12192000" cy="709593"/>
          </a:xfrm>
          <a:prstGeom prst="rect">
            <a:avLst/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C6EBF5"/>
              </a:solidFill>
            </a:endParaRP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1A3530CF-00CB-E07A-5E42-E9647BD797C9}"/>
              </a:ext>
            </a:extLst>
          </p:cNvPr>
          <p:cNvSpPr/>
          <p:nvPr/>
        </p:nvSpPr>
        <p:spPr>
          <a:xfrm>
            <a:off x="684407" y="-23829"/>
            <a:ext cx="2043717" cy="709593"/>
          </a:xfrm>
          <a:prstGeom prst="roundRect">
            <a:avLst>
              <a:gd name="adj" fmla="val 16667"/>
            </a:avLst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rgbClr val="C6EBF5"/>
                </a:solidFill>
              </a:rPr>
              <a:t>INTRODUCTION</a:t>
            </a:r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C0AA2CCA-766B-F855-BE5F-59118A8F1A3B}"/>
              </a:ext>
            </a:extLst>
          </p:cNvPr>
          <p:cNvSpPr/>
          <p:nvPr/>
        </p:nvSpPr>
        <p:spPr>
          <a:xfrm>
            <a:off x="2846650" y="-23830"/>
            <a:ext cx="2043717" cy="709593"/>
          </a:xfrm>
          <a:prstGeom prst="roundRect">
            <a:avLst/>
          </a:prstGeom>
          <a:solidFill>
            <a:srgbClr val="C6E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 dirty="0">
                <a:solidFill>
                  <a:srgbClr val="5080A7"/>
                </a:solidFill>
              </a:rPr>
              <a:t>LITERATURE REVIEW</a:t>
            </a: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4DAEE665-F3BE-5F36-DB3E-BDEC93251DA6}"/>
              </a:ext>
            </a:extLst>
          </p:cNvPr>
          <p:cNvSpPr/>
          <p:nvPr/>
        </p:nvSpPr>
        <p:spPr>
          <a:xfrm>
            <a:off x="5034388" y="-25710"/>
            <a:ext cx="2043717" cy="709593"/>
          </a:xfrm>
          <a:prstGeom prst="roundRect">
            <a:avLst/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 dirty="0">
                <a:solidFill>
                  <a:srgbClr val="5080A7"/>
                </a:solidFill>
              </a:rPr>
              <a:t>PROPOSED ALGORITHM</a:t>
            </a:r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E38CC5AE-F4EE-D51C-EBF5-14328A589146}"/>
              </a:ext>
            </a:extLst>
          </p:cNvPr>
          <p:cNvSpPr/>
          <p:nvPr/>
        </p:nvSpPr>
        <p:spPr>
          <a:xfrm>
            <a:off x="7222126" y="-25711"/>
            <a:ext cx="2043717" cy="709593"/>
          </a:xfrm>
          <a:prstGeom prst="roundRect">
            <a:avLst/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>
                <a:solidFill>
                  <a:srgbClr val="5080A7"/>
                </a:solidFill>
              </a:rPr>
              <a:t>RESULTS</a:t>
            </a:r>
            <a:endParaRPr lang="en-GB" sz="1800" b="1" dirty="0">
              <a:solidFill>
                <a:srgbClr val="5080A7"/>
              </a:solidFill>
            </a:endParaRP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E565910F-70F5-86ED-FD7E-770D74FD5E8D}"/>
              </a:ext>
            </a:extLst>
          </p:cNvPr>
          <p:cNvSpPr/>
          <p:nvPr/>
        </p:nvSpPr>
        <p:spPr>
          <a:xfrm>
            <a:off x="9409864" y="-25711"/>
            <a:ext cx="2043717" cy="709593"/>
          </a:xfrm>
          <a:prstGeom prst="roundRect">
            <a:avLst/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>
                <a:solidFill>
                  <a:srgbClr val="5080A7"/>
                </a:solidFill>
              </a:rPr>
              <a:t>CONCLUSIONS</a:t>
            </a:r>
            <a:endParaRPr lang="en-GB" sz="1800" b="1" dirty="0">
              <a:solidFill>
                <a:srgbClr val="5080A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89334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magine 9">
            <a:extLst>
              <a:ext uri="{FF2B5EF4-FFF2-40B4-BE49-F238E27FC236}">
                <a16:creationId xmlns:a16="http://schemas.microsoft.com/office/drawing/2014/main" id="{0FCA59B5-31C7-A6AE-E757-72BA378F0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9" y="698221"/>
            <a:ext cx="5935615" cy="6005038"/>
          </a:xfrm>
          <a:prstGeom prst="rect">
            <a:avLst/>
          </a:prstGeom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79879E83-4E1F-9072-DCB0-6E9A27BD0367}"/>
              </a:ext>
            </a:extLst>
          </p:cNvPr>
          <p:cNvSpPr/>
          <p:nvPr/>
        </p:nvSpPr>
        <p:spPr>
          <a:xfrm>
            <a:off x="0" y="6547626"/>
            <a:ext cx="12192000" cy="311266"/>
          </a:xfrm>
          <a:prstGeom prst="rect">
            <a:avLst/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5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0E5F99E5-0746-FE55-9495-1A334F9B7F1F}"/>
              </a:ext>
            </a:extLst>
          </p:cNvPr>
          <p:cNvSpPr txBox="1"/>
          <p:nvPr/>
        </p:nvSpPr>
        <p:spPr>
          <a:xfrm>
            <a:off x="6102593" y="2000628"/>
            <a:ext cx="5689995" cy="4199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C44D2D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 Database: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0206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000" b="1" dirty="0">
                <a:solidFill>
                  <a:srgbClr val="00206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port Database</a:t>
            </a:r>
            <a:r>
              <a:rPr lang="en-US" sz="2000" dirty="0">
                <a:solidFill>
                  <a:srgbClr val="00206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: a collection of 126 cardiorespiratory data acquired through wearable sensors from 81 subjects while practicing 10 different sports.</a:t>
            </a:r>
            <a:endParaRPr lang="en-US" sz="2000" b="0" i="0" dirty="0">
              <a:solidFill>
                <a:srgbClr val="002060"/>
              </a:solidFill>
              <a:effectLst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GB" sz="2000" dirty="0">
                <a:solidFill>
                  <a:srgbClr val="C44D2D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The aim:</a:t>
            </a:r>
          </a:p>
          <a:p>
            <a:pPr>
              <a:lnSpc>
                <a:spcPct val="150000"/>
              </a:lnSpc>
            </a:pPr>
            <a:r>
              <a:rPr lang="en-GB" sz="2000" dirty="0">
                <a:solidFill>
                  <a:srgbClr val="002060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Detection and measurement of the </a:t>
            </a:r>
            <a:r>
              <a:rPr lang="en-GB" sz="2000" b="1" dirty="0">
                <a:solidFill>
                  <a:srgbClr val="002060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QRS width</a:t>
            </a:r>
            <a:r>
              <a:rPr lang="en-GB" sz="2000" dirty="0">
                <a:solidFill>
                  <a:srgbClr val="002060"/>
                </a:solidFill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GB" sz="2000" dirty="0">
              <a:solidFill>
                <a:srgbClr val="002060"/>
              </a:solidFill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>
              <a:lnSpc>
                <a:spcPct val="150000"/>
              </a:lnSpc>
            </a:pPr>
            <a:endParaRPr lang="en-GB" sz="2000" dirty="0">
              <a:solidFill>
                <a:srgbClr val="C44D2D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>
              <a:lnSpc>
                <a:spcPct val="150000"/>
              </a:lnSpc>
            </a:pPr>
            <a:endParaRPr lang="en-US" sz="2000" dirty="0">
              <a:solidFill>
                <a:srgbClr val="193452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BE78BA4A-2C8A-6838-A97F-A3EECAE8FD19}"/>
              </a:ext>
            </a:extLst>
          </p:cNvPr>
          <p:cNvSpPr/>
          <p:nvPr/>
        </p:nvSpPr>
        <p:spPr>
          <a:xfrm>
            <a:off x="0" y="-19398"/>
            <a:ext cx="12192000" cy="709593"/>
          </a:xfrm>
          <a:prstGeom prst="rect">
            <a:avLst/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C6EBF5"/>
              </a:solidFill>
            </a:endParaRP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488E3255-4835-3F85-22FB-517AD2C0631B}"/>
              </a:ext>
            </a:extLst>
          </p:cNvPr>
          <p:cNvSpPr/>
          <p:nvPr/>
        </p:nvSpPr>
        <p:spPr>
          <a:xfrm>
            <a:off x="684407" y="-23829"/>
            <a:ext cx="2043717" cy="709593"/>
          </a:xfrm>
          <a:prstGeom prst="roundRect">
            <a:avLst>
              <a:gd name="adj" fmla="val 16667"/>
            </a:avLst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rgbClr val="C6EBF5"/>
                </a:solidFill>
              </a:rPr>
              <a:t>INTRODUCTION</a:t>
            </a: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8B6BAA29-FEBB-0E38-E607-53587AAD40C1}"/>
              </a:ext>
            </a:extLst>
          </p:cNvPr>
          <p:cNvSpPr/>
          <p:nvPr/>
        </p:nvSpPr>
        <p:spPr>
          <a:xfrm>
            <a:off x="2846650" y="-23830"/>
            <a:ext cx="2043717" cy="709593"/>
          </a:xfrm>
          <a:prstGeom prst="roundRect">
            <a:avLst/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 dirty="0">
                <a:solidFill>
                  <a:srgbClr val="C6EBF5"/>
                </a:solidFill>
              </a:rPr>
              <a:t>LITERATURE REVIEW</a:t>
            </a: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D1E18051-902D-3B83-31AE-290AA01BB703}"/>
              </a:ext>
            </a:extLst>
          </p:cNvPr>
          <p:cNvSpPr/>
          <p:nvPr/>
        </p:nvSpPr>
        <p:spPr>
          <a:xfrm>
            <a:off x="5034388" y="-25710"/>
            <a:ext cx="2043717" cy="709593"/>
          </a:xfrm>
          <a:prstGeom prst="roundRect">
            <a:avLst/>
          </a:prstGeom>
          <a:solidFill>
            <a:srgbClr val="C6E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 dirty="0">
                <a:solidFill>
                  <a:srgbClr val="5080A7"/>
                </a:solidFill>
              </a:rPr>
              <a:t>PROPOSED ALGORITHM</a:t>
            </a:r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7685263E-05FA-D10C-53B0-C6C3A6D1C928}"/>
              </a:ext>
            </a:extLst>
          </p:cNvPr>
          <p:cNvSpPr/>
          <p:nvPr/>
        </p:nvSpPr>
        <p:spPr>
          <a:xfrm>
            <a:off x="7222126" y="-25711"/>
            <a:ext cx="2043717" cy="709593"/>
          </a:xfrm>
          <a:prstGeom prst="roundRect">
            <a:avLst/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>
                <a:solidFill>
                  <a:srgbClr val="5080A7"/>
                </a:solidFill>
              </a:rPr>
              <a:t>RESULTS</a:t>
            </a:r>
            <a:endParaRPr lang="en-GB" sz="1800" b="1" dirty="0">
              <a:solidFill>
                <a:srgbClr val="5080A7"/>
              </a:solidFill>
            </a:endParaRP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3DFBFBAE-B1A3-A2A8-7DE1-859CAAD87EAE}"/>
              </a:ext>
            </a:extLst>
          </p:cNvPr>
          <p:cNvSpPr/>
          <p:nvPr/>
        </p:nvSpPr>
        <p:spPr>
          <a:xfrm>
            <a:off x="9409864" y="-25711"/>
            <a:ext cx="2043717" cy="709593"/>
          </a:xfrm>
          <a:prstGeom prst="roundRect">
            <a:avLst/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>
                <a:solidFill>
                  <a:srgbClr val="5080A7"/>
                </a:solidFill>
              </a:rPr>
              <a:t>CONCLUSIONS</a:t>
            </a:r>
            <a:endParaRPr lang="en-GB" sz="1800" b="1" dirty="0">
              <a:solidFill>
                <a:srgbClr val="5080A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54580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magine 9">
            <a:extLst>
              <a:ext uri="{FF2B5EF4-FFF2-40B4-BE49-F238E27FC236}">
                <a16:creationId xmlns:a16="http://schemas.microsoft.com/office/drawing/2014/main" id="{0FCA59B5-31C7-A6AE-E757-72BA378F06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417" b="62993"/>
          <a:stretch/>
        </p:blipFill>
        <p:spPr>
          <a:xfrm>
            <a:off x="83489" y="917972"/>
            <a:ext cx="5935615" cy="1716833"/>
          </a:xfrm>
          <a:prstGeom prst="rect">
            <a:avLst/>
          </a:prstGeom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79879E83-4E1F-9072-DCB0-6E9A27BD0367}"/>
              </a:ext>
            </a:extLst>
          </p:cNvPr>
          <p:cNvSpPr/>
          <p:nvPr/>
        </p:nvSpPr>
        <p:spPr>
          <a:xfrm>
            <a:off x="0" y="6563360"/>
            <a:ext cx="12192000" cy="311266"/>
          </a:xfrm>
          <a:prstGeom prst="rect">
            <a:avLst/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0E5F99E5-0746-FE55-9495-1A334F9B7F1F}"/>
              </a:ext>
            </a:extLst>
          </p:cNvPr>
          <p:cNvSpPr txBox="1"/>
          <p:nvPr/>
        </p:nvSpPr>
        <p:spPr>
          <a:xfrm>
            <a:off x="6102593" y="2000628"/>
            <a:ext cx="5689995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GB" sz="2000" dirty="0">
              <a:solidFill>
                <a:srgbClr val="C44D2D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>
              <a:lnSpc>
                <a:spcPct val="150000"/>
              </a:lnSpc>
            </a:pPr>
            <a:endParaRPr lang="en-US" sz="2000" dirty="0">
              <a:solidFill>
                <a:srgbClr val="193452"/>
              </a:solidFill>
              <a:cs typeface="Times New Roman" panose="02020603050405020304" pitchFamily="18" charset="0"/>
            </a:endParaRPr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6CE790CF-8DB5-AE25-5CA0-BC3CDE19FE6D}"/>
              </a:ext>
            </a:extLst>
          </p:cNvPr>
          <p:cNvCxnSpPr>
            <a:cxnSpLocks/>
          </p:cNvCxnSpPr>
          <p:nvPr/>
        </p:nvCxnSpPr>
        <p:spPr>
          <a:xfrm>
            <a:off x="1035698" y="2118049"/>
            <a:ext cx="214604" cy="923731"/>
          </a:xfrm>
          <a:prstGeom prst="straightConnector1">
            <a:avLst/>
          </a:prstGeom>
          <a:ln>
            <a:solidFill>
              <a:srgbClr val="19345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Picture 5">
            <a:extLst>
              <a:ext uri="{FF2B5EF4-FFF2-40B4-BE49-F238E27FC236}">
                <a16:creationId xmlns:a16="http://schemas.microsoft.com/office/drawing/2014/main" id="{1C6F6492-11BD-6FD0-55E6-3A38DD14E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113" y="3181000"/>
            <a:ext cx="3068320" cy="2525395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68E3DC6D-9895-BF5D-DDC5-197EEE1EC1B4}"/>
              </a:ext>
            </a:extLst>
          </p:cNvPr>
          <p:cNvSpPr txBox="1"/>
          <p:nvPr/>
        </p:nvSpPr>
        <p:spPr>
          <a:xfrm>
            <a:off x="195113" y="5829470"/>
            <a:ext cx="34616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C44D2D"/>
                </a:solidFill>
              </a:rPr>
              <a:t>Sample Frequency = 250Hz</a:t>
            </a:r>
          </a:p>
        </p:txBody>
      </p: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0EFB7374-472D-758C-45C1-FCCF5CAD8CD8}"/>
              </a:ext>
            </a:extLst>
          </p:cNvPr>
          <p:cNvCxnSpPr>
            <a:cxnSpLocks/>
          </p:cNvCxnSpPr>
          <p:nvPr/>
        </p:nvCxnSpPr>
        <p:spPr>
          <a:xfrm>
            <a:off x="5874138" y="1662451"/>
            <a:ext cx="1097175" cy="0"/>
          </a:xfrm>
          <a:prstGeom prst="straightConnector1">
            <a:avLst/>
          </a:prstGeom>
          <a:ln>
            <a:solidFill>
              <a:srgbClr val="19345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33F35C59-6BA9-E506-8702-EFC3EF7BEFE3}"/>
              </a:ext>
            </a:extLst>
          </p:cNvPr>
          <p:cNvSpPr txBox="1"/>
          <p:nvPr/>
        </p:nvSpPr>
        <p:spPr>
          <a:xfrm>
            <a:off x="7543458" y="917972"/>
            <a:ext cx="4399726" cy="3737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000" b="1" dirty="0">
                <a:solidFill>
                  <a:srgbClr val="C44D2D"/>
                </a:solidFill>
              </a:rPr>
              <a:t>Phases Frequency intervals: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193452"/>
                </a:solidFill>
              </a:rPr>
              <a:t>Rest [2000 166654]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193452"/>
                </a:solidFill>
              </a:rPr>
              <a:t>Exercise [166655 673085]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193452"/>
                </a:solidFill>
              </a:rPr>
              <a:t>Recovery [697006 80775]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GB" sz="2000" b="1" dirty="0">
              <a:solidFill>
                <a:srgbClr val="193452"/>
              </a:solidFill>
            </a:endParaRPr>
          </a:p>
          <a:p>
            <a:pPr>
              <a:lnSpc>
                <a:spcPct val="150000"/>
              </a:lnSpc>
            </a:pPr>
            <a:r>
              <a:rPr lang="en-GB" sz="2000" b="1" dirty="0">
                <a:solidFill>
                  <a:srgbClr val="193452"/>
                </a:solidFill>
              </a:rPr>
              <a:t>Attention: </a:t>
            </a:r>
            <a:r>
              <a:rPr lang="en-GB" sz="2000" dirty="0">
                <a:solidFill>
                  <a:srgbClr val="193452"/>
                </a:solidFill>
              </a:rPr>
              <a:t>the transition intervals of signal between two phases is not considered.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E2BC36BE-F098-F548-9E5B-EFAE1BD579BA}"/>
              </a:ext>
            </a:extLst>
          </p:cNvPr>
          <p:cNvSpPr/>
          <p:nvPr/>
        </p:nvSpPr>
        <p:spPr>
          <a:xfrm>
            <a:off x="0" y="-19398"/>
            <a:ext cx="12192000" cy="709593"/>
          </a:xfrm>
          <a:prstGeom prst="rect">
            <a:avLst/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C6EBF5"/>
              </a:solidFill>
            </a:endParaRP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D4A6ED8C-B72C-1629-F852-8B750DADCD60}"/>
              </a:ext>
            </a:extLst>
          </p:cNvPr>
          <p:cNvSpPr/>
          <p:nvPr/>
        </p:nvSpPr>
        <p:spPr>
          <a:xfrm>
            <a:off x="684407" y="-23829"/>
            <a:ext cx="2043717" cy="709593"/>
          </a:xfrm>
          <a:prstGeom prst="roundRect">
            <a:avLst>
              <a:gd name="adj" fmla="val 16667"/>
            </a:avLst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rgbClr val="C6EBF5"/>
                </a:solidFill>
              </a:rPr>
              <a:t>INTRODUCTION</a:t>
            </a: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11C2E62C-3F4D-0F5D-D63A-F34C8E8A7880}"/>
              </a:ext>
            </a:extLst>
          </p:cNvPr>
          <p:cNvSpPr/>
          <p:nvPr/>
        </p:nvSpPr>
        <p:spPr>
          <a:xfrm>
            <a:off x="2846650" y="-23830"/>
            <a:ext cx="2043717" cy="709593"/>
          </a:xfrm>
          <a:prstGeom prst="roundRect">
            <a:avLst/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 dirty="0">
                <a:solidFill>
                  <a:srgbClr val="C6EBF5"/>
                </a:solidFill>
              </a:rPr>
              <a:t>LITERATURE REVIEW</a:t>
            </a:r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C1967ACA-A16A-EBA4-E110-4C9CB6D3BBAC}"/>
              </a:ext>
            </a:extLst>
          </p:cNvPr>
          <p:cNvSpPr/>
          <p:nvPr/>
        </p:nvSpPr>
        <p:spPr>
          <a:xfrm>
            <a:off x="5034388" y="-25710"/>
            <a:ext cx="2043717" cy="709593"/>
          </a:xfrm>
          <a:prstGeom prst="roundRect">
            <a:avLst/>
          </a:prstGeom>
          <a:solidFill>
            <a:srgbClr val="C6E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 dirty="0">
                <a:solidFill>
                  <a:srgbClr val="5080A7"/>
                </a:solidFill>
              </a:rPr>
              <a:t>PROPOSED ALGORITHM</a:t>
            </a:r>
          </a:p>
        </p:txBody>
      </p:sp>
      <p:sp>
        <p:nvSpPr>
          <p:cNvPr id="18" name="Rettangolo con angoli arrotondati 17">
            <a:extLst>
              <a:ext uri="{FF2B5EF4-FFF2-40B4-BE49-F238E27FC236}">
                <a16:creationId xmlns:a16="http://schemas.microsoft.com/office/drawing/2014/main" id="{74D457B4-177E-4310-D201-2950420EF08C}"/>
              </a:ext>
            </a:extLst>
          </p:cNvPr>
          <p:cNvSpPr/>
          <p:nvPr/>
        </p:nvSpPr>
        <p:spPr>
          <a:xfrm>
            <a:off x="7222126" y="-25711"/>
            <a:ext cx="2043717" cy="709593"/>
          </a:xfrm>
          <a:prstGeom prst="roundRect">
            <a:avLst/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 dirty="0">
                <a:solidFill>
                  <a:srgbClr val="5080A7"/>
                </a:solidFill>
              </a:rPr>
              <a:t>RESULTS</a:t>
            </a:r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F2C44463-98D9-312A-5AD8-14949FC1CE71}"/>
              </a:ext>
            </a:extLst>
          </p:cNvPr>
          <p:cNvSpPr/>
          <p:nvPr/>
        </p:nvSpPr>
        <p:spPr>
          <a:xfrm>
            <a:off x="9409864" y="-25711"/>
            <a:ext cx="2043717" cy="709593"/>
          </a:xfrm>
          <a:prstGeom prst="roundRect">
            <a:avLst/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>
                <a:solidFill>
                  <a:srgbClr val="5080A7"/>
                </a:solidFill>
              </a:rPr>
              <a:t>CONCLUSIONS</a:t>
            </a:r>
            <a:endParaRPr lang="en-GB" sz="1800" b="1" dirty="0">
              <a:solidFill>
                <a:srgbClr val="5080A7"/>
              </a:solidFill>
            </a:endParaRPr>
          </a:p>
        </p:txBody>
      </p:sp>
      <p:pic>
        <p:nvPicPr>
          <p:cNvPr id="2" name="Picture 5">
            <a:extLst>
              <a:ext uri="{FF2B5EF4-FFF2-40B4-BE49-F238E27FC236}">
                <a16:creationId xmlns:a16="http://schemas.microsoft.com/office/drawing/2014/main" id="{7EDAA146-DFF4-CDF9-0E5B-FF3DA676F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650" y="1336251"/>
            <a:ext cx="5309663" cy="4370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0868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magine 9">
            <a:extLst>
              <a:ext uri="{FF2B5EF4-FFF2-40B4-BE49-F238E27FC236}">
                <a16:creationId xmlns:a16="http://schemas.microsoft.com/office/drawing/2014/main" id="{0FCA59B5-31C7-A6AE-E757-72BA378F06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5799" b="43375"/>
          <a:stretch/>
        </p:blipFill>
        <p:spPr>
          <a:xfrm>
            <a:off x="83489" y="2847975"/>
            <a:ext cx="5935615" cy="1250602"/>
          </a:xfrm>
          <a:prstGeom prst="rect">
            <a:avLst/>
          </a:prstGeom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79879E83-4E1F-9072-DCB0-6E9A27BD0367}"/>
              </a:ext>
            </a:extLst>
          </p:cNvPr>
          <p:cNvSpPr/>
          <p:nvPr/>
        </p:nvSpPr>
        <p:spPr>
          <a:xfrm>
            <a:off x="0" y="6563360"/>
            <a:ext cx="12192000" cy="311266"/>
          </a:xfrm>
          <a:prstGeom prst="rect">
            <a:avLst/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0E5F99E5-0746-FE55-9495-1A334F9B7F1F}"/>
              </a:ext>
            </a:extLst>
          </p:cNvPr>
          <p:cNvSpPr txBox="1"/>
          <p:nvPr/>
        </p:nvSpPr>
        <p:spPr>
          <a:xfrm>
            <a:off x="6096000" y="2000627"/>
            <a:ext cx="5689995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GB" sz="2000" dirty="0">
              <a:solidFill>
                <a:srgbClr val="C44D2D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>
              <a:lnSpc>
                <a:spcPct val="150000"/>
              </a:lnSpc>
            </a:pPr>
            <a:endParaRPr lang="en-US" sz="2000" dirty="0">
              <a:solidFill>
                <a:srgbClr val="193452"/>
              </a:solidFill>
              <a:cs typeface="Times New Roman" panose="02020603050405020304" pitchFamily="18" charset="0"/>
            </a:endParaRPr>
          </a:p>
        </p:txBody>
      </p:sp>
      <p:pic>
        <p:nvPicPr>
          <p:cNvPr id="6" name="Picture 4" descr="Immagine che contiene testo, Carattere, calligrafia, schermata&#10;&#10;Descrizione generata automaticamente">
            <a:extLst>
              <a:ext uri="{FF2B5EF4-FFF2-40B4-BE49-F238E27FC236}">
                <a16:creationId xmlns:a16="http://schemas.microsoft.com/office/drawing/2014/main" id="{C80FC4D0-A555-E443-652C-AAC994E5B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8284" y="805410"/>
            <a:ext cx="3108960" cy="2284095"/>
          </a:xfrm>
          <a:prstGeom prst="rect">
            <a:avLst/>
          </a:prstGeom>
        </p:spPr>
      </p:pic>
      <p:pic>
        <p:nvPicPr>
          <p:cNvPr id="9" name="Picture 6" descr="Immagine che contiene testo, diagramma, linea, Diagramma&#10;&#10;Descrizione generata automaticamente">
            <a:extLst>
              <a:ext uri="{FF2B5EF4-FFF2-40B4-BE49-F238E27FC236}">
                <a16:creationId xmlns:a16="http://schemas.microsoft.com/office/drawing/2014/main" id="{1DF763F5-87CA-1770-FB6E-D67877B71F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0857" y="845857"/>
            <a:ext cx="2875628" cy="2243648"/>
          </a:xfrm>
          <a:prstGeom prst="rect">
            <a:avLst/>
          </a:prstGeom>
        </p:spPr>
      </p:pic>
      <p:pic>
        <p:nvPicPr>
          <p:cNvPr id="11" name="Picture 1" descr="Immagine che contiene testo, diagramma, linea, Diagramma&#10;&#10;Descrizione generata automaticamente">
            <a:extLst>
              <a:ext uri="{FF2B5EF4-FFF2-40B4-BE49-F238E27FC236}">
                <a16:creationId xmlns:a16="http://schemas.microsoft.com/office/drawing/2014/main" id="{802154C5-80A4-EFB3-39F6-6321564E3A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9692" y="4220141"/>
            <a:ext cx="2712434" cy="2149006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3BD9EF71-32FF-0F5B-F0D9-BBB42D85D077}"/>
              </a:ext>
            </a:extLst>
          </p:cNvPr>
          <p:cNvSpPr txBox="1"/>
          <p:nvPr/>
        </p:nvSpPr>
        <p:spPr>
          <a:xfrm>
            <a:off x="2233991" y="864412"/>
            <a:ext cx="3269033" cy="189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000" b="1" dirty="0">
                <a:solidFill>
                  <a:srgbClr val="C44D2D"/>
                </a:solidFill>
              </a:rPr>
              <a:t>Butterworth band pass filter:</a:t>
            </a:r>
          </a:p>
          <a:p>
            <a:pPr>
              <a:lnSpc>
                <a:spcPct val="150000"/>
              </a:lnSpc>
            </a:pPr>
            <a:r>
              <a:rPr lang="en-GB" sz="2000" b="1" dirty="0">
                <a:solidFill>
                  <a:srgbClr val="193452"/>
                </a:solidFill>
              </a:rPr>
              <a:t>Cutoff frequencies: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193452"/>
                </a:solidFill>
              </a:rPr>
              <a:t>F1 = 5Hz;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193452"/>
                </a:solidFill>
              </a:rPr>
              <a:t>F2 = 15Hz;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AF2B4026-985C-2647-6620-6F62A17EBCC7}"/>
              </a:ext>
            </a:extLst>
          </p:cNvPr>
          <p:cNvSpPr txBox="1"/>
          <p:nvPr/>
        </p:nvSpPr>
        <p:spPr>
          <a:xfrm>
            <a:off x="7920800" y="3823223"/>
            <a:ext cx="3807118" cy="2814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000" b="1" dirty="0">
                <a:solidFill>
                  <a:srgbClr val="C44D2D"/>
                </a:solidFill>
              </a:rPr>
              <a:t>Differentiation step:</a:t>
            </a:r>
          </a:p>
          <a:p>
            <a:pPr>
              <a:lnSpc>
                <a:spcPct val="150000"/>
              </a:lnSpc>
            </a:pPr>
            <a:r>
              <a:rPr lang="en-GB" sz="2000" b="1" dirty="0">
                <a:solidFill>
                  <a:srgbClr val="193452"/>
                </a:solidFill>
              </a:rPr>
              <a:t>The application of first derivative to the filtered signal </a:t>
            </a:r>
            <a:r>
              <a:rPr lang="en-US" sz="2000" b="1" dirty="0">
                <a:solidFill>
                  <a:srgbClr val="193452"/>
                </a:solidFill>
              </a:rPr>
              <a:t>enhance the identification of the Q, R, and S peaks.</a:t>
            </a:r>
            <a:endParaRPr lang="en-GB" sz="2000" b="1" dirty="0">
              <a:solidFill>
                <a:srgbClr val="193452"/>
              </a:solidFill>
            </a:endParaRPr>
          </a:p>
          <a:p>
            <a:pPr>
              <a:lnSpc>
                <a:spcPct val="150000"/>
              </a:lnSpc>
            </a:pPr>
            <a:endParaRPr lang="en-GB" sz="2000" b="1" dirty="0">
              <a:solidFill>
                <a:srgbClr val="F4913E"/>
              </a:solidFill>
            </a:endParaRP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CBCD5028-DF72-B66B-E48A-9D62B114D985}"/>
              </a:ext>
            </a:extLst>
          </p:cNvPr>
          <p:cNvSpPr/>
          <p:nvPr/>
        </p:nvSpPr>
        <p:spPr>
          <a:xfrm>
            <a:off x="0" y="-19398"/>
            <a:ext cx="12192000" cy="709593"/>
          </a:xfrm>
          <a:prstGeom prst="rect">
            <a:avLst/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C6EBF5"/>
              </a:solidFill>
            </a:endParaRPr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BAAA6C05-09E5-0DEE-7E66-7140E12D037C}"/>
              </a:ext>
            </a:extLst>
          </p:cNvPr>
          <p:cNvSpPr/>
          <p:nvPr/>
        </p:nvSpPr>
        <p:spPr>
          <a:xfrm>
            <a:off x="684407" y="-23829"/>
            <a:ext cx="2043717" cy="709593"/>
          </a:xfrm>
          <a:prstGeom prst="roundRect">
            <a:avLst>
              <a:gd name="adj" fmla="val 16667"/>
            </a:avLst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rgbClr val="C6EBF5"/>
                </a:solidFill>
              </a:rPr>
              <a:t>INTRODUCTION</a:t>
            </a: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27E300EE-93C5-EE7D-CFE1-0F27881EECDD}"/>
              </a:ext>
            </a:extLst>
          </p:cNvPr>
          <p:cNvSpPr/>
          <p:nvPr/>
        </p:nvSpPr>
        <p:spPr>
          <a:xfrm>
            <a:off x="2846650" y="-23830"/>
            <a:ext cx="2043717" cy="709593"/>
          </a:xfrm>
          <a:prstGeom prst="roundRect">
            <a:avLst/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 dirty="0">
                <a:solidFill>
                  <a:srgbClr val="C6EBF5"/>
                </a:solidFill>
              </a:rPr>
              <a:t>LITERATURE REVIEW</a:t>
            </a: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00B16B4E-A615-6A83-24FB-0FAF71D750DA}"/>
              </a:ext>
            </a:extLst>
          </p:cNvPr>
          <p:cNvSpPr/>
          <p:nvPr/>
        </p:nvSpPr>
        <p:spPr>
          <a:xfrm>
            <a:off x="5034388" y="-25710"/>
            <a:ext cx="2043717" cy="709593"/>
          </a:xfrm>
          <a:prstGeom prst="roundRect">
            <a:avLst/>
          </a:prstGeom>
          <a:solidFill>
            <a:srgbClr val="C6E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 dirty="0">
                <a:solidFill>
                  <a:srgbClr val="5080A7"/>
                </a:solidFill>
              </a:rPr>
              <a:t>PROPOSED ALGORITHM</a:t>
            </a:r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9ACA80E6-9563-72D0-DD6A-DB261284EAFF}"/>
              </a:ext>
            </a:extLst>
          </p:cNvPr>
          <p:cNvSpPr/>
          <p:nvPr/>
        </p:nvSpPr>
        <p:spPr>
          <a:xfrm>
            <a:off x="7222126" y="-25711"/>
            <a:ext cx="2043717" cy="709593"/>
          </a:xfrm>
          <a:prstGeom prst="roundRect">
            <a:avLst/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>
                <a:solidFill>
                  <a:srgbClr val="5080A7"/>
                </a:solidFill>
              </a:rPr>
              <a:t>RESULTS</a:t>
            </a:r>
            <a:endParaRPr lang="en-GB" sz="1800" b="1" dirty="0">
              <a:solidFill>
                <a:srgbClr val="5080A7"/>
              </a:solidFill>
            </a:endParaRPr>
          </a:p>
        </p:txBody>
      </p:sp>
      <p:sp>
        <p:nvSpPr>
          <p:cNvPr id="18" name="Rettangolo con angoli arrotondati 17">
            <a:extLst>
              <a:ext uri="{FF2B5EF4-FFF2-40B4-BE49-F238E27FC236}">
                <a16:creationId xmlns:a16="http://schemas.microsoft.com/office/drawing/2014/main" id="{7831206C-886B-86EC-D0D0-FD4D7536A05F}"/>
              </a:ext>
            </a:extLst>
          </p:cNvPr>
          <p:cNvSpPr/>
          <p:nvPr/>
        </p:nvSpPr>
        <p:spPr>
          <a:xfrm>
            <a:off x="9409864" y="-25711"/>
            <a:ext cx="2043717" cy="709593"/>
          </a:xfrm>
          <a:prstGeom prst="roundRect">
            <a:avLst/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>
                <a:solidFill>
                  <a:srgbClr val="5080A7"/>
                </a:solidFill>
              </a:rPr>
              <a:t>CONCLUSIONS</a:t>
            </a:r>
            <a:endParaRPr lang="en-GB" sz="1800" b="1" dirty="0">
              <a:solidFill>
                <a:srgbClr val="5080A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44263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5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magine 9">
            <a:extLst>
              <a:ext uri="{FF2B5EF4-FFF2-40B4-BE49-F238E27FC236}">
                <a16:creationId xmlns:a16="http://schemas.microsoft.com/office/drawing/2014/main" id="{0FCA59B5-31C7-A6AE-E757-72BA378F06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4099" b="21818"/>
          <a:stretch/>
        </p:blipFill>
        <p:spPr>
          <a:xfrm>
            <a:off x="83489" y="3946849"/>
            <a:ext cx="5935615" cy="1446245"/>
          </a:xfrm>
          <a:prstGeom prst="rect">
            <a:avLst/>
          </a:prstGeom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79879E83-4E1F-9072-DCB0-6E9A27BD0367}"/>
              </a:ext>
            </a:extLst>
          </p:cNvPr>
          <p:cNvSpPr/>
          <p:nvPr/>
        </p:nvSpPr>
        <p:spPr>
          <a:xfrm>
            <a:off x="0" y="6563360"/>
            <a:ext cx="12192000" cy="311266"/>
          </a:xfrm>
          <a:prstGeom prst="rect">
            <a:avLst/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8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F4571B5-1474-A7B3-DE1E-DB0E8CFFC586}"/>
              </a:ext>
            </a:extLst>
          </p:cNvPr>
          <p:cNvSpPr txBox="1"/>
          <p:nvPr/>
        </p:nvSpPr>
        <p:spPr>
          <a:xfrm>
            <a:off x="275803" y="864334"/>
            <a:ext cx="3269033" cy="2814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000" b="1" dirty="0">
                <a:solidFill>
                  <a:srgbClr val="C44D2D"/>
                </a:solidFill>
              </a:rPr>
              <a:t>Detection of R peaks: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193452"/>
                </a:solidFill>
              </a:rPr>
              <a:t>by finding the local maxima in the ECG signal that exceed a certain threshold set to 60% of the maximum peak value</a:t>
            </a:r>
            <a:endParaRPr lang="en-GB" sz="2000" b="1" dirty="0">
              <a:solidFill>
                <a:srgbClr val="193452"/>
              </a:solidFill>
            </a:endParaRPr>
          </a:p>
        </p:txBody>
      </p:sp>
      <p:pic>
        <p:nvPicPr>
          <p:cNvPr id="9" name="Picture 14" descr="Immagine che contiene testo, schermata, diagramma, linea&#10;&#10;Descrizione generata automaticamente">
            <a:extLst>
              <a:ext uri="{FF2B5EF4-FFF2-40B4-BE49-F238E27FC236}">
                <a16:creationId xmlns:a16="http://schemas.microsoft.com/office/drawing/2014/main" id="{9E944BB0-F4FC-3F0C-5D87-31EA0C04B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1519" y="977490"/>
            <a:ext cx="2985184" cy="2090634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492F9DC9-A1CB-1DED-3A96-2DE103AD5A52}"/>
              </a:ext>
            </a:extLst>
          </p:cNvPr>
          <p:cNvSpPr txBox="1"/>
          <p:nvPr/>
        </p:nvSpPr>
        <p:spPr>
          <a:xfrm>
            <a:off x="7460263" y="890616"/>
            <a:ext cx="3269033" cy="14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000" b="1" dirty="0">
                <a:solidFill>
                  <a:srgbClr val="C44D2D"/>
                </a:solidFill>
              </a:rPr>
              <a:t>Detection of Q peaks: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193452"/>
                </a:solidFill>
              </a:rPr>
              <a:t>by finding the local maxima preceding the R-peak</a:t>
            </a:r>
            <a:endParaRPr lang="en-GB" sz="2000" b="1" dirty="0">
              <a:solidFill>
                <a:srgbClr val="193452"/>
              </a:solidFill>
            </a:endParaRP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7990E831-18EA-F51D-A631-CC49077534BB}"/>
              </a:ext>
            </a:extLst>
          </p:cNvPr>
          <p:cNvSpPr txBox="1"/>
          <p:nvPr/>
        </p:nvSpPr>
        <p:spPr>
          <a:xfrm>
            <a:off x="8688283" y="4897253"/>
            <a:ext cx="3269033" cy="14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000" b="1" dirty="0">
                <a:solidFill>
                  <a:srgbClr val="C44D2D"/>
                </a:solidFill>
              </a:rPr>
              <a:t>Detection of S peaks: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193452"/>
                </a:solidFill>
              </a:rPr>
              <a:t>by finding the local maxima following the R-peak</a:t>
            </a:r>
            <a:endParaRPr lang="en-GB" sz="2000" b="1" dirty="0">
              <a:solidFill>
                <a:srgbClr val="193452"/>
              </a:solidFill>
            </a:endParaRPr>
          </a:p>
        </p:txBody>
      </p:sp>
      <p:pic>
        <p:nvPicPr>
          <p:cNvPr id="15" name="Picture 15" descr="Immagine che contiene testo, schermata, diagramma, Diagramma&#10;&#10;Descrizione generata automaticamente">
            <a:extLst>
              <a:ext uri="{FF2B5EF4-FFF2-40B4-BE49-F238E27FC236}">
                <a16:creationId xmlns:a16="http://schemas.microsoft.com/office/drawing/2014/main" id="{61674A45-8F33-C405-1F01-2A1616F69B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001" y="2470123"/>
            <a:ext cx="2688590" cy="1971675"/>
          </a:xfrm>
          <a:prstGeom prst="rect">
            <a:avLst/>
          </a:prstGeom>
        </p:spPr>
      </p:pic>
      <p:pic>
        <p:nvPicPr>
          <p:cNvPr id="16" name="Picture 17" descr="Immagine che contiene testo, schermata, diagramma, Diagramma&#10;&#10;Descrizione generata automaticamente">
            <a:extLst>
              <a:ext uri="{FF2B5EF4-FFF2-40B4-BE49-F238E27FC236}">
                <a16:creationId xmlns:a16="http://schemas.microsoft.com/office/drawing/2014/main" id="{73C32C39-5CA9-18BD-20AB-35FE11A2F8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4273" y="4383224"/>
            <a:ext cx="2688590" cy="2082702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D40262CF-C917-B6CD-8A5E-E48B344F648B}"/>
              </a:ext>
            </a:extLst>
          </p:cNvPr>
          <p:cNvSpPr/>
          <p:nvPr/>
        </p:nvSpPr>
        <p:spPr>
          <a:xfrm>
            <a:off x="0" y="-19398"/>
            <a:ext cx="12192000" cy="709593"/>
          </a:xfrm>
          <a:prstGeom prst="rect">
            <a:avLst/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C6EBF5"/>
              </a:solidFill>
            </a:endParaRP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D06F3F57-A3C2-A639-31CA-607D725F6801}"/>
              </a:ext>
            </a:extLst>
          </p:cNvPr>
          <p:cNvSpPr/>
          <p:nvPr/>
        </p:nvSpPr>
        <p:spPr>
          <a:xfrm>
            <a:off x="684407" y="-23829"/>
            <a:ext cx="2043717" cy="709593"/>
          </a:xfrm>
          <a:prstGeom prst="roundRect">
            <a:avLst>
              <a:gd name="adj" fmla="val 16667"/>
            </a:avLst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rgbClr val="C6EBF5"/>
                </a:solidFill>
              </a:rPr>
              <a:t>INTRODUCTION</a:t>
            </a: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5B68154A-AD5E-ACA6-5659-01E6D642371F}"/>
              </a:ext>
            </a:extLst>
          </p:cNvPr>
          <p:cNvSpPr/>
          <p:nvPr/>
        </p:nvSpPr>
        <p:spPr>
          <a:xfrm>
            <a:off x="2846650" y="-23830"/>
            <a:ext cx="2043717" cy="709593"/>
          </a:xfrm>
          <a:prstGeom prst="roundRect">
            <a:avLst/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 dirty="0">
                <a:solidFill>
                  <a:srgbClr val="C6EBF5"/>
                </a:solidFill>
              </a:rPr>
              <a:t>LITERATURE REVIEW</a:t>
            </a:r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ADDAB245-7837-16C5-747B-D8A64B785562}"/>
              </a:ext>
            </a:extLst>
          </p:cNvPr>
          <p:cNvSpPr/>
          <p:nvPr/>
        </p:nvSpPr>
        <p:spPr>
          <a:xfrm>
            <a:off x="5034388" y="-25710"/>
            <a:ext cx="2043717" cy="709593"/>
          </a:xfrm>
          <a:prstGeom prst="roundRect">
            <a:avLst/>
          </a:prstGeom>
          <a:solidFill>
            <a:srgbClr val="C6E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 dirty="0">
                <a:solidFill>
                  <a:srgbClr val="5080A7"/>
                </a:solidFill>
              </a:rPr>
              <a:t>PROPOSED ALGORITHM</a:t>
            </a:r>
          </a:p>
        </p:txBody>
      </p:sp>
      <p:sp>
        <p:nvSpPr>
          <p:cNvPr id="18" name="Rettangolo con angoli arrotondati 17">
            <a:extLst>
              <a:ext uri="{FF2B5EF4-FFF2-40B4-BE49-F238E27FC236}">
                <a16:creationId xmlns:a16="http://schemas.microsoft.com/office/drawing/2014/main" id="{AF8AD77E-646F-F719-EFE9-CC986EBBBE85}"/>
              </a:ext>
            </a:extLst>
          </p:cNvPr>
          <p:cNvSpPr/>
          <p:nvPr/>
        </p:nvSpPr>
        <p:spPr>
          <a:xfrm>
            <a:off x="7222126" y="-25711"/>
            <a:ext cx="2043717" cy="709593"/>
          </a:xfrm>
          <a:prstGeom prst="roundRect">
            <a:avLst/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>
                <a:solidFill>
                  <a:srgbClr val="5080A7"/>
                </a:solidFill>
              </a:rPr>
              <a:t>RESULTS</a:t>
            </a:r>
            <a:endParaRPr lang="en-GB" sz="1800" b="1" dirty="0">
              <a:solidFill>
                <a:srgbClr val="5080A7"/>
              </a:solidFill>
            </a:endParaRPr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3AAFCF3D-F900-5F29-AA88-66D7F2EDE26D}"/>
              </a:ext>
            </a:extLst>
          </p:cNvPr>
          <p:cNvSpPr/>
          <p:nvPr/>
        </p:nvSpPr>
        <p:spPr>
          <a:xfrm>
            <a:off x="9409864" y="-25711"/>
            <a:ext cx="2043717" cy="709593"/>
          </a:xfrm>
          <a:prstGeom prst="roundRect">
            <a:avLst/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>
                <a:solidFill>
                  <a:srgbClr val="5080A7"/>
                </a:solidFill>
              </a:rPr>
              <a:t>CONCLUSIONS</a:t>
            </a:r>
            <a:endParaRPr lang="en-GB" sz="1800" b="1" dirty="0">
              <a:solidFill>
                <a:srgbClr val="5080A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14027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magine 9">
            <a:extLst>
              <a:ext uri="{FF2B5EF4-FFF2-40B4-BE49-F238E27FC236}">
                <a16:creationId xmlns:a16="http://schemas.microsoft.com/office/drawing/2014/main" id="{0FCA59B5-31C7-A6AE-E757-72BA378F06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3814" b="4907"/>
          <a:stretch/>
        </p:blipFill>
        <p:spPr>
          <a:xfrm>
            <a:off x="83489" y="5130799"/>
            <a:ext cx="5935615" cy="1277819"/>
          </a:xfrm>
          <a:prstGeom prst="rect">
            <a:avLst/>
          </a:prstGeom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79879E83-4E1F-9072-DCB0-6E9A27BD0367}"/>
              </a:ext>
            </a:extLst>
          </p:cNvPr>
          <p:cNvSpPr/>
          <p:nvPr/>
        </p:nvSpPr>
        <p:spPr>
          <a:xfrm>
            <a:off x="0" y="6563360"/>
            <a:ext cx="12192000" cy="311266"/>
          </a:xfrm>
          <a:prstGeom prst="rect">
            <a:avLst/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69202E22-9359-AFFD-5AB7-2878196C13BA}"/>
              </a:ext>
            </a:extLst>
          </p:cNvPr>
          <p:cNvSpPr txBox="1"/>
          <p:nvPr/>
        </p:nvSpPr>
        <p:spPr>
          <a:xfrm>
            <a:off x="266038" y="864334"/>
            <a:ext cx="3807118" cy="14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000" b="1" dirty="0">
                <a:solidFill>
                  <a:srgbClr val="C44D2D"/>
                </a:solidFill>
              </a:rPr>
              <a:t>Peak Alignment: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193452"/>
                </a:solidFill>
              </a:rPr>
              <a:t>The Q and S peaks are aligned relative to the R-peaks. </a:t>
            </a:r>
            <a:endParaRPr lang="en-GB" sz="2000" b="1" dirty="0">
              <a:solidFill>
                <a:srgbClr val="193452"/>
              </a:solidFill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B37D01DC-6FB7-A08A-68F9-C497DDCB736F}"/>
              </a:ext>
            </a:extLst>
          </p:cNvPr>
          <p:cNvSpPr txBox="1"/>
          <p:nvPr/>
        </p:nvSpPr>
        <p:spPr>
          <a:xfrm>
            <a:off x="6102594" y="864334"/>
            <a:ext cx="5327405" cy="5543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tabLst>
                <a:tab pos="228600" algn="l"/>
              </a:tabLst>
            </a:pPr>
            <a:r>
              <a:rPr lang="en-US" sz="2000" b="1" dirty="0">
                <a:solidFill>
                  <a:srgbClr val="C44D2D"/>
                </a:solidFill>
                <a:effectLst/>
                <a:ea typeface="Times New Roman" panose="02020603050405020304" pitchFamily="18" charset="0"/>
              </a:rPr>
              <a:t>QRS Duration Calculation:</a:t>
            </a:r>
            <a:endParaRPr lang="it-IT" sz="2000" b="1" dirty="0">
              <a:solidFill>
                <a:srgbClr val="C44D2D"/>
              </a:solidFill>
              <a:effectLst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93452"/>
                </a:solidFill>
                <a:ea typeface="Times New Roman" panose="02020603050405020304" pitchFamily="18" charset="0"/>
              </a:rPr>
              <a:t>The time difference between S-wave off-set and Q-wave on-set.</a:t>
            </a:r>
            <a:endParaRPr lang="it-IT" sz="2000" b="1" dirty="0">
              <a:solidFill>
                <a:srgbClr val="193452"/>
              </a:solidFill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93452"/>
                </a:solidFill>
                <a:ea typeface="Times New Roman" panose="02020603050405020304" pitchFamily="18" charset="0"/>
              </a:rPr>
              <a:t>The results are converted into milliseconds.</a:t>
            </a:r>
          </a:p>
          <a:p>
            <a:pPr lvl="0" algn="just">
              <a:lnSpc>
                <a:spcPct val="150000"/>
              </a:lnSpc>
            </a:pPr>
            <a:endParaRPr lang="en-US" sz="2000" b="1" dirty="0">
              <a:solidFill>
                <a:srgbClr val="193452"/>
              </a:solidFill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193452"/>
              </a:solidFill>
              <a:effectLst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193452"/>
              </a:solidFill>
              <a:effectLst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93452"/>
                </a:solidFill>
                <a:effectLst/>
                <a:ea typeface="Times New Roman" panose="02020603050405020304" pitchFamily="18" charset="0"/>
              </a:rPr>
              <a:t>The final step is to determine the mean value of the QRS width in the three different phases and the standard deviation.</a:t>
            </a:r>
            <a:endParaRPr lang="it-IT" sz="2000" b="1" dirty="0">
              <a:solidFill>
                <a:srgbClr val="193452"/>
              </a:solidFill>
              <a:ea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n-US" sz="2000" dirty="0">
                <a:solidFill>
                  <a:srgbClr val="193452"/>
                </a:solidFill>
                <a:effectLst/>
                <a:ea typeface="Times New Roman" panose="02020603050405020304" pitchFamily="18" charset="0"/>
              </a:rPr>
              <a:t> </a:t>
            </a:r>
            <a:endParaRPr lang="it-IT" sz="2000" dirty="0">
              <a:solidFill>
                <a:srgbClr val="193452"/>
              </a:solidFill>
              <a:effectLst/>
              <a:ea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GB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844C03B1-6A67-692B-03C1-CB10A34FE28E}"/>
                  </a:ext>
                </a:extLst>
              </p:cNvPr>
              <p:cNvSpPr txBox="1"/>
              <p:nvPr/>
            </p:nvSpPr>
            <p:spPr>
              <a:xfrm>
                <a:off x="6398799" y="3000974"/>
                <a:ext cx="4734994" cy="10034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193452"/>
                    </a:solidFill>
                    <a:effectLst/>
                    <a:ea typeface="Times New Roman" panose="02020603050405020304" pitchFamily="18" charset="0"/>
                    <a:cs typeface="Cambria Math" panose="02040503050406030204" pitchFamily="18" charset="0"/>
                  </a:rPr>
                  <a:t>𝑄𝑅𝑆</a:t>
                </a:r>
                <a:r>
                  <a:rPr lang="en-US" sz="2400" dirty="0">
                    <a:solidFill>
                      <a:srgbClr val="193452"/>
                    </a:solidFill>
                    <a:effectLst/>
                    <a:ea typeface="Times New Roman" panose="02020603050405020304" pitchFamily="18" charset="0"/>
                  </a:rPr>
                  <a:t>Width = </a:t>
                </a:r>
                <a:r>
                  <a:rPr lang="en-US" sz="2400" dirty="0">
                    <a:solidFill>
                      <a:srgbClr val="193452"/>
                    </a:solidFill>
                    <a:effectLst/>
                    <a:ea typeface="Times New Roman" panose="02020603050405020304" pitchFamily="18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sz="2400" i="1">
                            <a:solidFill>
                              <a:srgbClr val="193452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smtClean="0">
                            <a:solidFill>
                              <a:srgbClr val="193452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2400" b="0" smtClean="0">
                            <a:solidFill>
                              <a:srgbClr val="193452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 Math" panose="02040503050406030204" pitchFamily="18" charset="0"/>
                          </a:rPr>
                          <m:t>S</m:t>
                        </m:r>
                        <m:r>
                          <a:rPr lang="en-US" sz="2400" b="0" smtClean="0">
                            <a:solidFill>
                              <a:srgbClr val="193452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400" b="0" smtClean="0">
                            <a:solidFill>
                              <a:srgbClr val="193452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end</m:t>
                        </m:r>
                        <m:r>
                          <a:rPr lang="en-US" sz="2400" b="0" smtClean="0">
                            <a:solidFill>
                              <a:srgbClr val="193452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 – </m:t>
                        </m:r>
                        <m:r>
                          <m:rPr>
                            <m:sty m:val="p"/>
                          </m:rPr>
                          <a:rPr lang="en-US" sz="2400" b="0" smtClean="0">
                            <a:solidFill>
                              <a:srgbClr val="193452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 Math" panose="02040503050406030204" pitchFamily="18" charset="0"/>
                          </a:rPr>
                          <m:t>Q</m:t>
                        </m:r>
                        <m:r>
                          <a:rPr lang="en-US" sz="2400" b="0" smtClean="0">
                            <a:solidFill>
                              <a:srgbClr val="193452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400" b="0" smtClean="0">
                            <a:solidFill>
                              <a:srgbClr val="193452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 Math" panose="02040503050406030204" pitchFamily="18" charset="0"/>
                          </a:rPr>
                          <m:t>start</m:t>
                        </m:r>
                        <m:r>
                          <a:rPr lang="en-US" sz="2400" b="0" smtClean="0">
                            <a:solidFill>
                              <a:srgbClr val="193452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400" b="0" smtClean="0">
                            <a:solidFill>
                              <a:srgbClr val="193452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 Math" panose="02040503050406030204" pitchFamily="18" charset="0"/>
                          </a:rPr>
                          <m:t>K</m:t>
                        </m:r>
                        <m:r>
                          <a:rPr lang="en-US" sz="2400" b="0" i="1" smtClean="0">
                            <a:solidFill>
                              <a:srgbClr val="193452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 Math" panose="02040503050406030204" pitchFamily="18" charset="0"/>
                          </a:rPr>
                          <m:t>∗</m:t>
                        </m:r>
                        <m:r>
                          <m:rPr>
                            <m:sty m:val="p"/>
                          </m:rPr>
                          <a:rPr lang="en-US" sz="2400" b="0" smtClean="0">
                            <a:solidFill>
                              <a:srgbClr val="193452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mbria Math" panose="02040503050406030204" pitchFamily="18" charset="0"/>
                          </a:rPr>
                          <m:t>Fs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rgbClr val="193452"/>
                    </a:solidFill>
                    <a:effectLst/>
                    <a:ea typeface="Times New Roman" panose="02020603050405020304" pitchFamily="18" charset="0"/>
                    <a:cs typeface="Cambria Math" panose="02040503050406030204" pitchFamily="18" charset="0"/>
                  </a:rPr>
                  <a:t>  *1000</a:t>
                </a:r>
                <a:endParaRPr lang="it-IT" sz="2400" dirty="0">
                  <a:solidFill>
                    <a:srgbClr val="193452"/>
                  </a:solidFill>
                  <a:effectLst/>
                  <a:ea typeface="Times New Roman" panose="02020603050405020304" pitchFamily="18" charset="0"/>
                </a:endParaRPr>
              </a:p>
              <a:p>
                <a:endParaRPr lang="en-GB" sz="2400" dirty="0"/>
              </a:p>
            </p:txBody>
          </p:sp>
        </mc:Choice>
        <mc:Fallback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844C03B1-6A67-692B-03C1-CB10A34FE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8799" y="3000974"/>
                <a:ext cx="4734994" cy="1003480"/>
              </a:xfrm>
              <a:prstGeom prst="rect">
                <a:avLst/>
              </a:prstGeom>
              <a:blipFill>
                <a:blip r:embed="rId3"/>
                <a:stretch>
                  <a:fillRect l="-20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ttangolo 10">
            <a:extLst>
              <a:ext uri="{FF2B5EF4-FFF2-40B4-BE49-F238E27FC236}">
                <a16:creationId xmlns:a16="http://schemas.microsoft.com/office/drawing/2014/main" id="{580116A5-FA84-0FFD-382A-46E86A1B5340}"/>
              </a:ext>
            </a:extLst>
          </p:cNvPr>
          <p:cNvSpPr/>
          <p:nvPr/>
        </p:nvSpPr>
        <p:spPr>
          <a:xfrm>
            <a:off x="0" y="-19398"/>
            <a:ext cx="12192000" cy="709593"/>
          </a:xfrm>
          <a:prstGeom prst="rect">
            <a:avLst/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C6EBF5"/>
              </a:solidFill>
            </a:endParaRPr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021222C3-A8B1-E924-2E37-BC131CE9D7C3}"/>
              </a:ext>
            </a:extLst>
          </p:cNvPr>
          <p:cNvSpPr/>
          <p:nvPr/>
        </p:nvSpPr>
        <p:spPr>
          <a:xfrm>
            <a:off x="684407" y="-23829"/>
            <a:ext cx="2043717" cy="709593"/>
          </a:xfrm>
          <a:prstGeom prst="roundRect">
            <a:avLst>
              <a:gd name="adj" fmla="val 16667"/>
            </a:avLst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rgbClr val="C6EBF5"/>
                </a:solidFill>
              </a:rPr>
              <a:t>INTRODUCTION</a:t>
            </a: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240DC898-563E-18AB-2F53-07BC00CD6D11}"/>
              </a:ext>
            </a:extLst>
          </p:cNvPr>
          <p:cNvSpPr/>
          <p:nvPr/>
        </p:nvSpPr>
        <p:spPr>
          <a:xfrm>
            <a:off x="2846650" y="-23830"/>
            <a:ext cx="2043717" cy="709593"/>
          </a:xfrm>
          <a:prstGeom prst="roundRect">
            <a:avLst/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 dirty="0">
                <a:solidFill>
                  <a:srgbClr val="C6EBF5"/>
                </a:solidFill>
              </a:rPr>
              <a:t>LITERATURE REVIEW</a:t>
            </a: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505EEA2B-7952-8A13-0027-BDB8B1E0E082}"/>
              </a:ext>
            </a:extLst>
          </p:cNvPr>
          <p:cNvSpPr/>
          <p:nvPr/>
        </p:nvSpPr>
        <p:spPr>
          <a:xfrm>
            <a:off x="5034388" y="-25710"/>
            <a:ext cx="2043717" cy="709593"/>
          </a:xfrm>
          <a:prstGeom prst="roundRect">
            <a:avLst/>
          </a:prstGeom>
          <a:solidFill>
            <a:srgbClr val="C6E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 dirty="0">
                <a:solidFill>
                  <a:srgbClr val="5080A7"/>
                </a:solidFill>
              </a:rPr>
              <a:t>PROPOSED ALGORITHM</a:t>
            </a: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DBA8E73F-B939-448F-DD94-CC1E35513850}"/>
              </a:ext>
            </a:extLst>
          </p:cNvPr>
          <p:cNvSpPr/>
          <p:nvPr/>
        </p:nvSpPr>
        <p:spPr>
          <a:xfrm>
            <a:off x="7222126" y="-25711"/>
            <a:ext cx="2043717" cy="709593"/>
          </a:xfrm>
          <a:prstGeom prst="roundRect">
            <a:avLst/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>
                <a:solidFill>
                  <a:srgbClr val="5080A7"/>
                </a:solidFill>
              </a:rPr>
              <a:t>RESULTS</a:t>
            </a:r>
            <a:endParaRPr lang="en-GB" sz="1800" b="1" dirty="0">
              <a:solidFill>
                <a:srgbClr val="5080A7"/>
              </a:solidFill>
            </a:endParaRPr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CF66D12E-6023-A3E1-1A9E-A7F1078AC279}"/>
              </a:ext>
            </a:extLst>
          </p:cNvPr>
          <p:cNvSpPr/>
          <p:nvPr/>
        </p:nvSpPr>
        <p:spPr>
          <a:xfrm>
            <a:off x="9409864" y="-25711"/>
            <a:ext cx="2043717" cy="709593"/>
          </a:xfrm>
          <a:prstGeom prst="roundRect">
            <a:avLst/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>
                <a:solidFill>
                  <a:srgbClr val="5080A7"/>
                </a:solidFill>
              </a:rPr>
              <a:t>CONCLUSIONS</a:t>
            </a:r>
            <a:endParaRPr lang="en-GB" sz="1800" b="1" dirty="0">
              <a:solidFill>
                <a:srgbClr val="5080A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48618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79879E83-4E1F-9072-DCB0-6E9A27BD0367}"/>
              </a:ext>
            </a:extLst>
          </p:cNvPr>
          <p:cNvSpPr/>
          <p:nvPr/>
        </p:nvSpPr>
        <p:spPr>
          <a:xfrm>
            <a:off x="0" y="6563360"/>
            <a:ext cx="12192000" cy="311266"/>
          </a:xfrm>
          <a:prstGeom prst="rect">
            <a:avLst/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69202E22-9359-AFFD-5AB7-2878196C13BA}"/>
              </a:ext>
            </a:extLst>
          </p:cNvPr>
          <p:cNvSpPr txBox="1"/>
          <p:nvPr/>
        </p:nvSpPr>
        <p:spPr>
          <a:xfrm>
            <a:off x="266038" y="772916"/>
            <a:ext cx="5291482" cy="3276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000" b="1" dirty="0">
                <a:solidFill>
                  <a:srgbClr val="C44D2D"/>
                </a:solidFill>
              </a:rPr>
              <a:t>From literature: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193452"/>
                </a:solidFill>
              </a:rPr>
              <a:t>17 Articles are included;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193452"/>
                </a:solidFill>
              </a:rPr>
              <a:t>Most of the methods report a </a:t>
            </a:r>
            <a:r>
              <a:rPr lang="en-GB" sz="2000" b="1" dirty="0">
                <a:solidFill>
                  <a:srgbClr val="193452"/>
                </a:solidFill>
              </a:rPr>
              <a:t>strategy to menage the noise;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193452"/>
                </a:solidFill>
              </a:rPr>
              <a:t>Most of the algorithms reported significant performances with </a:t>
            </a:r>
            <a:r>
              <a:rPr lang="en-GB" sz="2000" b="1" dirty="0">
                <a:solidFill>
                  <a:srgbClr val="193452"/>
                </a:solidFill>
              </a:rPr>
              <a:t>positive predictive values over the 98% </a:t>
            </a:r>
            <a:r>
              <a:rPr lang="en-GB" sz="2000" dirty="0">
                <a:solidFill>
                  <a:srgbClr val="193452"/>
                </a:solidFill>
              </a:rPr>
              <a:t>and</a:t>
            </a:r>
            <a:r>
              <a:rPr lang="en-GB" sz="2000" b="1" dirty="0">
                <a:solidFill>
                  <a:srgbClr val="193452"/>
                </a:solidFill>
              </a:rPr>
              <a:t> sensitivities over 99%.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B37D01DC-6FB7-A08A-68F9-C497DDCB736F}"/>
              </a:ext>
            </a:extLst>
          </p:cNvPr>
          <p:cNvSpPr txBox="1"/>
          <p:nvPr/>
        </p:nvSpPr>
        <p:spPr>
          <a:xfrm>
            <a:off x="6115402" y="772916"/>
            <a:ext cx="5513315" cy="5081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tabLst>
                <a:tab pos="228600" algn="l"/>
              </a:tabLst>
            </a:pPr>
            <a:r>
              <a:rPr lang="en-US" sz="2000" b="1" dirty="0">
                <a:solidFill>
                  <a:srgbClr val="C44D2D"/>
                </a:solidFill>
                <a:effectLst/>
                <a:ea typeface="Times New Roman" panose="02020603050405020304" pitchFamily="18" charset="0"/>
              </a:rPr>
              <a:t>Proposed algorithm results:</a:t>
            </a:r>
            <a:endParaRPr lang="it-IT" sz="2000" b="1" dirty="0">
              <a:solidFill>
                <a:srgbClr val="C44D2D"/>
              </a:solidFill>
              <a:effectLst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93452"/>
                </a:solidFill>
                <a:effectLst/>
                <a:ea typeface="Times New Roman" panose="02020603050405020304" pitchFamily="18" charset="0"/>
              </a:rPr>
              <a:t>The use of the Butterworth bandpass filter </a:t>
            </a:r>
            <a:r>
              <a:rPr lang="en-US" sz="2000" b="1" dirty="0">
                <a:solidFill>
                  <a:srgbClr val="193452"/>
                </a:solidFill>
                <a:effectLst/>
                <a:ea typeface="Times New Roman" panose="02020603050405020304" pitchFamily="18" charset="0"/>
              </a:rPr>
              <a:t>reduces the impact of noise; </a:t>
            </a:r>
            <a:endParaRPr lang="it-IT" sz="2000" b="1" dirty="0">
              <a:solidFill>
                <a:srgbClr val="193452"/>
              </a:solidFill>
              <a:effectLst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93452"/>
                </a:solidFill>
                <a:ea typeface="Times New Roman" panose="02020603050405020304" pitchFamily="18" charset="0"/>
              </a:rPr>
              <a:t>The decrease in amplitude of the filtered ECG signal </a:t>
            </a:r>
            <a:r>
              <a:rPr lang="en-US" sz="2000" dirty="0">
                <a:solidFill>
                  <a:srgbClr val="193452"/>
                </a:solidFill>
                <a:ea typeface="Times New Roman" panose="02020603050405020304" pitchFamily="18" charset="0"/>
              </a:rPr>
              <a:t>was observed</a:t>
            </a:r>
            <a:r>
              <a:rPr lang="en-US" sz="2000" b="1" dirty="0">
                <a:solidFill>
                  <a:srgbClr val="193452"/>
                </a:solidFill>
                <a:ea typeface="Times New Roman" panose="02020603050405020304" pitchFamily="18" charset="0"/>
              </a:rPr>
              <a:t>;</a:t>
            </a:r>
            <a:r>
              <a:rPr lang="en-US" sz="2000" b="1" dirty="0">
                <a:solidFill>
                  <a:srgbClr val="193452"/>
                </a:solidFill>
                <a:effectLst/>
                <a:ea typeface="Times New Roman" panose="02020603050405020304" pitchFamily="18" charset="0"/>
              </a:rPr>
              <a:t>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93452"/>
                </a:solidFill>
                <a:effectLst/>
                <a:ea typeface="Times New Roman" panose="02020603050405020304" pitchFamily="18" charset="0"/>
              </a:rPr>
              <a:t>It is observed a </a:t>
            </a:r>
            <a:r>
              <a:rPr lang="en-US" sz="2000" b="1" dirty="0">
                <a:solidFill>
                  <a:srgbClr val="193452"/>
                </a:solidFill>
                <a:effectLst/>
                <a:ea typeface="Times New Roman" panose="02020603050405020304" pitchFamily="18" charset="0"/>
              </a:rPr>
              <a:t>correct QRS complex localization;</a:t>
            </a:r>
          </a:p>
          <a:p>
            <a:pPr lvl="0" algn="just">
              <a:lnSpc>
                <a:spcPct val="150000"/>
              </a:lnSpc>
            </a:pPr>
            <a:endParaRPr lang="en-US" sz="2000" b="1" dirty="0">
              <a:solidFill>
                <a:srgbClr val="193452"/>
              </a:solidFill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193452"/>
              </a:solidFill>
              <a:effectLst/>
              <a:ea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n-US" sz="2000" dirty="0">
                <a:solidFill>
                  <a:srgbClr val="193452"/>
                </a:solidFill>
                <a:effectLst/>
                <a:ea typeface="Times New Roman" panose="02020603050405020304" pitchFamily="18" charset="0"/>
              </a:rPr>
              <a:t> </a:t>
            </a:r>
            <a:endParaRPr lang="it-IT" sz="2000" dirty="0">
              <a:solidFill>
                <a:srgbClr val="193452"/>
              </a:solidFill>
              <a:effectLst/>
              <a:ea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GB" b="1" dirty="0"/>
          </a:p>
        </p:txBody>
      </p:sp>
      <p:graphicFrame>
        <p:nvGraphicFramePr>
          <p:cNvPr id="14" name="Tabella 14">
            <a:extLst>
              <a:ext uri="{FF2B5EF4-FFF2-40B4-BE49-F238E27FC236}">
                <a16:creationId xmlns:a16="http://schemas.microsoft.com/office/drawing/2014/main" id="{80D43303-D3A8-2058-4B29-8A1D4EF0F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1459234"/>
              </p:ext>
            </p:extLst>
          </p:nvPr>
        </p:nvGraphicFramePr>
        <p:xfrm>
          <a:off x="6258191" y="4268158"/>
          <a:ext cx="5370526" cy="2076243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386410">
                  <a:extLst>
                    <a:ext uri="{9D8B030D-6E8A-4147-A177-3AD203B41FA5}">
                      <a16:colId xmlns:a16="http://schemas.microsoft.com/office/drawing/2014/main" val="1434592940"/>
                    </a:ext>
                  </a:extLst>
                </a:gridCol>
                <a:gridCol w="2024882">
                  <a:extLst>
                    <a:ext uri="{9D8B030D-6E8A-4147-A177-3AD203B41FA5}">
                      <a16:colId xmlns:a16="http://schemas.microsoft.com/office/drawing/2014/main" val="2865200525"/>
                    </a:ext>
                  </a:extLst>
                </a:gridCol>
                <a:gridCol w="1959234">
                  <a:extLst>
                    <a:ext uri="{9D8B030D-6E8A-4147-A177-3AD203B41FA5}">
                      <a16:colId xmlns:a16="http://schemas.microsoft.com/office/drawing/2014/main" val="1316101434"/>
                    </a:ext>
                  </a:extLst>
                </a:gridCol>
              </a:tblGrid>
              <a:tr h="478721">
                <a:tc>
                  <a:txBody>
                    <a:bodyPr/>
                    <a:lstStyle/>
                    <a:p>
                      <a:r>
                        <a:rPr lang="en-GB" dirty="0"/>
                        <a:t>Phases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QRS width</a:t>
                      </a:r>
                      <a:br>
                        <a:rPr lang="en-GB" dirty="0"/>
                      </a:br>
                      <a:r>
                        <a:rPr lang="en-GB" dirty="0"/>
                        <a:t>Mean ± </a:t>
                      </a:r>
                      <a:r>
                        <a:rPr lang="en-GB" dirty="0" err="1"/>
                        <a:t>sd</a:t>
                      </a:r>
                      <a:r>
                        <a:rPr lang="en-GB" dirty="0"/>
                        <a:t> (</a:t>
                      </a:r>
                      <a:r>
                        <a:rPr lang="en-GB" dirty="0" err="1"/>
                        <a:t>ms</a:t>
                      </a:r>
                      <a:r>
                        <a:rPr lang="en-GB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Number of QRS complex detected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8697759"/>
                  </a:ext>
                </a:extLst>
              </a:tr>
              <a:tr h="478721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193452"/>
                          </a:solidFill>
                        </a:rPr>
                        <a:t>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rgbClr val="193452"/>
                          </a:solidFill>
                        </a:rPr>
                        <a:t>95.17 ± 11.47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rgbClr val="193452"/>
                          </a:solidFill>
                        </a:rPr>
                        <a:t>859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367361"/>
                  </a:ext>
                </a:extLst>
              </a:tr>
              <a:tr h="478721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193452"/>
                          </a:solidFill>
                        </a:rPr>
                        <a:t>Exercise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rgbClr val="193452"/>
                          </a:solidFill>
                        </a:rPr>
                        <a:t>105.55 ± 29.81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rgbClr val="193452"/>
                          </a:solidFill>
                        </a:rPr>
                        <a:t>4438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1299598"/>
                  </a:ext>
                </a:extLst>
              </a:tr>
              <a:tr h="478721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193452"/>
                          </a:solidFill>
                        </a:rPr>
                        <a:t>Recovery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rgbClr val="193452"/>
                          </a:solidFill>
                        </a:rPr>
                        <a:t>95.06 ± 0.74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rgbClr val="193452"/>
                          </a:solidFill>
                        </a:rPr>
                        <a:t>859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946377"/>
                  </a:ext>
                </a:extLst>
              </a:tr>
            </a:tbl>
          </a:graphicData>
        </a:graphic>
      </p:graphicFrame>
      <p:sp>
        <p:nvSpPr>
          <p:cNvPr id="9" name="Rettangolo 8">
            <a:extLst>
              <a:ext uri="{FF2B5EF4-FFF2-40B4-BE49-F238E27FC236}">
                <a16:creationId xmlns:a16="http://schemas.microsoft.com/office/drawing/2014/main" id="{8C0DD992-4056-0C1F-11BA-D4CB6C7DF21A}"/>
              </a:ext>
            </a:extLst>
          </p:cNvPr>
          <p:cNvSpPr/>
          <p:nvPr/>
        </p:nvSpPr>
        <p:spPr>
          <a:xfrm>
            <a:off x="0" y="-19398"/>
            <a:ext cx="12192000" cy="709593"/>
          </a:xfrm>
          <a:prstGeom prst="rect">
            <a:avLst/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C6EBF5"/>
              </a:solidFill>
            </a:endParaRPr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60A6BB54-6BC3-CF2C-AB64-E71F29317B12}"/>
              </a:ext>
            </a:extLst>
          </p:cNvPr>
          <p:cNvSpPr/>
          <p:nvPr/>
        </p:nvSpPr>
        <p:spPr>
          <a:xfrm>
            <a:off x="684407" y="-23829"/>
            <a:ext cx="2043717" cy="709593"/>
          </a:xfrm>
          <a:prstGeom prst="roundRect">
            <a:avLst>
              <a:gd name="adj" fmla="val 16667"/>
            </a:avLst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rgbClr val="C6EBF5"/>
                </a:solidFill>
              </a:rPr>
              <a:t>INTRODUCTION</a:t>
            </a:r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8802B23C-1140-75AC-77DC-11DF9B5DDB02}"/>
              </a:ext>
            </a:extLst>
          </p:cNvPr>
          <p:cNvSpPr/>
          <p:nvPr/>
        </p:nvSpPr>
        <p:spPr>
          <a:xfrm>
            <a:off x="2846650" y="-23830"/>
            <a:ext cx="2043717" cy="709593"/>
          </a:xfrm>
          <a:prstGeom prst="roundRect">
            <a:avLst/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 dirty="0">
                <a:solidFill>
                  <a:srgbClr val="C6EBF5"/>
                </a:solidFill>
              </a:rPr>
              <a:t>LITERATURE REVIEW</a:t>
            </a: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3D157118-F25E-6D0E-5D33-DDFDF2A7867B}"/>
              </a:ext>
            </a:extLst>
          </p:cNvPr>
          <p:cNvSpPr/>
          <p:nvPr/>
        </p:nvSpPr>
        <p:spPr>
          <a:xfrm>
            <a:off x="5034388" y="-25710"/>
            <a:ext cx="2043717" cy="709593"/>
          </a:xfrm>
          <a:prstGeom prst="roundRect">
            <a:avLst/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 dirty="0">
                <a:solidFill>
                  <a:srgbClr val="C6EBF5"/>
                </a:solidFill>
              </a:rPr>
              <a:t>PROPOSED ALGORITHM</a:t>
            </a: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69DCBFA0-76D6-8540-DBB2-E3F553261C62}"/>
              </a:ext>
            </a:extLst>
          </p:cNvPr>
          <p:cNvSpPr/>
          <p:nvPr/>
        </p:nvSpPr>
        <p:spPr>
          <a:xfrm>
            <a:off x="7222126" y="-25711"/>
            <a:ext cx="2043717" cy="709593"/>
          </a:xfrm>
          <a:prstGeom prst="roundRect">
            <a:avLst/>
          </a:prstGeom>
          <a:solidFill>
            <a:srgbClr val="C6E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>
                <a:solidFill>
                  <a:srgbClr val="5080A7"/>
                </a:solidFill>
              </a:rPr>
              <a:t>RESULTS</a:t>
            </a:r>
            <a:endParaRPr lang="en-GB" sz="1800" b="1" dirty="0">
              <a:solidFill>
                <a:srgbClr val="5080A7"/>
              </a:solidFill>
            </a:endParaRPr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092DEE05-7934-E18C-7A3F-DA5C0AB6D29D}"/>
              </a:ext>
            </a:extLst>
          </p:cNvPr>
          <p:cNvSpPr/>
          <p:nvPr/>
        </p:nvSpPr>
        <p:spPr>
          <a:xfrm>
            <a:off x="9409864" y="-25711"/>
            <a:ext cx="2043717" cy="709593"/>
          </a:xfrm>
          <a:prstGeom prst="roundRect">
            <a:avLst/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>
                <a:solidFill>
                  <a:srgbClr val="5080A7"/>
                </a:solidFill>
              </a:rPr>
              <a:t>CONCLUSIONS</a:t>
            </a:r>
            <a:endParaRPr lang="en-GB" sz="1800" b="1" dirty="0">
              <a:solidFill>
                <a:srgbClr val="5080A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66030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79879E83-4E1F-9072-DCB0-6E9A27BD0367}"/>
              </a:ext>
            </a:extLst>
          </p:cNvPr>
          <p:cNvSpPr/>
          <p:nvPr/>
        </p:nvSpPr>
        <p:spPr>
          <a:xfrm>
            <a:off x="0" y="6546734"/>
            <a:ext cx="12192000" cy="311266"/>
          </a:xfrm>
          <a:prstGeom prst="rect">
            <a:avLst/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11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B37D01DC-6FB7-A08A-68F9-C497DDCB736F}"/>
              </a:ext>
            </a:extLst>
          </p:cNvPr>
          <p:cNvSpPr txBox="1"/>
          <p:nvPr/>
        </p:nvSpPr>
        <p:spPr>
          <a:xfrm>
            <a:off x="67491" y="585308"/>
            <a:ext cx="11795760" cy="64203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sz="2000" b="1" dirty="0">
                <a:solidFill>
                  <a:srgbClr val="C44D2D"/>
                </a:solidFill>
                <a:ea typeface="Times New Roman" panose="02020603050405020304" pitchFamily="18" charset="0"/>
              </a:rPr>
              <a:t>Main Findings: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93452"/>
                </a:solidFill>
                <a:ea typeface="Times New Roman" panose="02020603050405020304" pitchFamily="18" charset="0"/>
              </a:rPr>
              <a:t>Variation in QRS width observed during resting, exercise, and recovery phases.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93452"/>
                </a:solidFill>
                <a:ea typeface="Times New Roman" panose="02020603050405020304" pitchFamily="18" charset="0"/>
              </a:rPr>
              <a:t>QRS duration typically 90-100 </a:t>
            </a:r>
            <a:r>
              <a:rPr lang="en-US" b="1" dirty="0" err="1">
                <a:solidFill>
                  <a:srgbClr val="193452"/>
                </a:solidFill>
                <a:ea typeface="Times New Roman" panose="02020603050405020304" pitchFamily="18" charset="0"/>
              </a:rPr>
              <a:t>ms</a:t>
            </a:r>
            <a:r>
              <a:rPr lang="en-US" b="1" dirty="0">
                <a:solidFill>
                  <a:srgbClr val="193452"/>
                </a:solidFill>
                <a:ea typeface="Times New Roman" panose="02020603050405020304" pitchFamily="18" charset="0"/>
              </a:rPr>
              <a:t> during rest and recovery.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93452"/>
                </a:solidFill>
                <a:ea typeface="Times New Roman" panose="02020603050405020304" pitchFamily="18" charset="0"/>
              </a:rPr>
              <a:t>During exercise, QRS duration often exceeds 100 </a:t>
            </a:r>
            <a:r>
              <a:rPr lang="en-US" b="1" dirty="0" err="1">
                <a:solidFill>
                  <a:srgbClr val="193452"/>
                </a:solidFill>
                <a:ea typeface="Times New Roman" panose="02020603050405020304" pitchFamily="18" charset="0"/>
              </a:rPr>
              <a:t>ms</a:t>
            </a:r>
            <a:r>
              <a:rPr lang="en-US" b="1" dirty="0">
                <a:solidFill>
                  <a:srgbClr val="193452"/>
                </a:solidFill>
                <a:ea typeface="Times New Roman" panose="02020603050405020304" pitchFamily="18" charset="0"/>
              </a:rPr>
              <a:t>, indicating exercise impacts cardiac electrical activity.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93452"/>
                </a:solidFill>
                <a:ea typeface="Times New Roman" panose="02020603050405020304" pitchFamily="18" charset="0"/>
              </a:rPr>
              <a:t>High standard deviation values attributed to noise.</a:t>
            </a:r>
          </a:p>
          <a:p>
            <a:pPr lvl="0" algn="just">
              <a:lnSpc>
                <a:spcPct val="150000"/>
              </a:lnSpc>
            </a:pPr>
            <a:endParaRPr lang="en-US" b="1" dirty="0">
              <a:solidFill>
                <a:srgbClr val="C44D2D"/>
              </a:solidFill>
              <a:ea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n-US" sz="2000" b="1" dirty="0">
                <a:solidFill>
                  <a:srgbClr val="C44D2D"/>
                </a:solidFill>
                <a:ea typeface="Times New Roman" panose="02020603050405020304" pitchFamily="18" charset="0"/>
              </a:rPr>
              <a:t>Implications: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93452"/>
                </a:solidFill>
                <a:ea typeface="Times New Roman" panose="02020603050405020304" pitchFamily="18" charset="0"/>
              </a:rPr>
              <a:t>Accurate QRS width detection is vital for clinical practice and real-time heart health monitoring.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93452"/>
                </a:solidFill>
                <a:ea typeface="Times New Roman" panose="02020603050405020304" pitchFamily="18" charset="0"/>
              </a:rPr>
              <a:t>Current methods perform well but need improvements for exercise-induced changes and noise reduction.</a:t>
            </a:r>
          </a:p>
          <a:p>
            <a:pPr lvl="0" algn="just">
              <a:lnSpc>
                <a:spcPct val="150000"/>
              </a:lnSpc>
            </a:pPr>
            <a:endParaRPr lang="en-US" b="1" dirty="0">
              <a:solidFill>
                <a:srgbClr val="193452"/>
              </a:solidFill>
              <a:ea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n-US" sz="2000" b="1" dirty="0">
                <a:solidFill>
                  <a:srgbClr val="C44D2D"/>
                </a:solidFill>
                <a:ea typeface="Times New Roman" panose="02020603050405020304" pitchFamily="18" charset="0"/>
              </a:rPr>
              <a:t>Future Directions: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93452"/>
                </a:solidFill>
                <a:ea typeface="Times New Roman" panose="02020603050405020304" pitchFamily="18" charset="0"/>
              </a:rPr>
              <a:t>Enhance algorithms to adapt to exercise-induced changes.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93452"/>
                </a:solidFill>
                <a:ea typeface="Times New Roman" panose="02020603050405020304" pitchFamily="18" charset="0"/>
              </a:rPr>
              <a:t>Improve noise reduction techniques.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93452"/>
                </a:solidFill>
                <a:ea typeface="Times New Roman" panose="02020603050405020304" pitchFamily="18" charset="0"/>
              </a:rPr>
              <a:t>Optimize signal processing for accurate real-time QRS detection across various cardiac activity phases.</a:t>
            </a:r>
          </a:p>
          <a:p>
            <a:pPr lvl="0" algn="just">
              <a:lnSpc>
                <a:spcPct val="150000"/>
              </a:lnSpc>
            </a:pPr>
            <a:endParaRPr lang="en-US" b="1" dirty="0">
              <a:solidFill>
                <a:srgbClr val="193452"/>
              </a:solidFill>
              <a:ea typeface="Times New Roman" panose="02020603050405020304" pitchFamily="18" charset="0"/>
            </a:endParaRP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20EEE317-9ECE-407D-9411-2B4C43B66541}"/>
              </a:ext>
            </a:extLst>
          </p:cNvPr>
          <p:cNvSpPr/>
          <p:nvPr/>
        </p:nvSpPr>
        <p:spPr>
          <a:xfrm>
            <a:off x="0" y="-19398"/>
            <a:ext cx="12192000" cy="709593"/>
          </a:xfrm>
          <a:prstGeom prst="rect">
            <a:avLst/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C6EBF5"/>
              </a:solidFill>
            </a:endParaRPr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A01528C2-AB3C-6C44-3625-67ABEA65F916}"/>
              </a:ext>
            </a:extLst>
          </p:cNvPr>
          <p:cNvSpPr/>
          <p:nvPr/>
        </p:nvSpPr>
        <p:spPr>
          <a:xfrm>
            <a:off x="684407" y="-23829"/>
            <a:ext cx="2043717" cy="709593"/>
          </a:xfrm>
          <a:prstGeom prst="roundRect">
            <a:avLst>
              <a:gd name="adj" fmla="val 16667"/>
            </a:avLst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rgbClr val="C6EBF5"/>
                </a:solidFill>
              </a:rPr>
              <a:t>INTRODUCTION</a:t>
            </a:r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A4F87C93-E284-28CA-2AF3-D7CB190DB14A}"/>
              </a:ext>
            </a:extLst>
          </p:cNvPr>
          <p:cNvSpPr/>
          <p:nvPr/>
        </p:nvSpPr>
        <p:spPr>
          <a:xfrm>
            <a:off x="2846650" y="-23830"/>
            <a:ext cx="2043717" cy="709593"/>
          </a:xfrm>
          <a:prstGeom prst="roundRect">
            <a:avLst/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 dirty="0">
                <a:solidFill>
                  <a:srgbClr val="C6EBF5"/>
                </a:solidFill>
              </a:rPr>
              <a:t>LITERATURE REVIEW</a:t>
            </a: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48424C42-72C0-B7A5-B1F7-92076794F8A4}"/>
              </a:ext>
            </a:extLst>
          </p:cNvPr>
          <p:cNvSpPr/>
          <p:nvPr/>
        </p:nvSpPr>
        <p:spPr>
          <a:xfrm>
            <a:off x="5034388" y="-25710"/>
            <a:ext cx="2043717" cy="709593"/>
          </a:xfrm>
          <a:prstGeom prst="roundRect">
            <a:avLst/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 dirty="0">
                <a:solidFill>
                  <a:srgbClr val="C6EBF5"/>
                </a:solidFill>
              </a:rPr>
              <a:t>PROPOSED ALGORITHM</a:t>
            </a: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AA92364A-B362-7AE7-1CBC-0997DCF312FB}"/>
              </a:ext>
            </a:extLst>
          </p:cNvPr>
          <p:cNvSpPr/>
          <p:nvPr/>
        </p:nvSpPr>
        <p:spPr>
          <a:xfrm>
            <a:off x="7222126" y="-25711"/>
            <a:ext cx="2043717" cy="709593"/>
          </a:xfrm>
          <a:prstGeom prst="roundRect">
            <a:avLst/>
          </a:prstGeom>
          <a:solidFill>
            <a:srgbClr val="5080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>
                <a:solidFill>
                  <a:srgbClr val="C6EBF5"/>
                </a:solidFill>
              </a:rPr>
              <a:t>RESULTS</a:t>
            </a:r>
            <a:endParaRPr lang="en-GB" sz="1800" b="1" dirty="0">
              <a:solidFill>
                <a:srgbClr val="C6EBF5"/>
              </a:solidFill>
            </a:endParaRP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81F823B6-4990-249A-B0CE-5305621B7AAF}"/>
              </a:ext>
            </a:extLst>
          </p:cNvPr>
          <p:cNvSpPr/>
          <p:nvPr/>
        </p:nvSpPr>
        <p:spPr>
          <a:xfrm>
            <a:off x="9409864" y="-25711"/>
            <a:ext cx="2043717" cy="709593"/>
          </a:xfrm>
          <a:prstGeom prst="roundRect">
            <a:avLst/>
          </a:prstGeom>
          <a:solidFill>
            <a:srgbClr val="C6E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b="1">
                <a:solidFill>
                  <a:srgbClr val="5080A7"/>
                </a:solidFill>
              </a:rPr>
              <a:t>CONCLUSIONS</a:t>
            </a:r>
            <a:endParaRPr lang="en-GB" sz="1800" b="1" dirty="0">
              <a:solidFill>
                <a:srgbClr val="5080A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55328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EF2D5B1-C178-9A2D-CADD-E70EEDEA48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1915" y="2062676"/>
            <a:ext cx="5071027" cy="1588127"/>
          </a:xfrm>
          <a:noFill/>
          <a:ln>
            <a:noFill/>
          </a:ln>
          <a:effectLst>
            <a:softEdge rad="685800"/>
          </a:effectLst>
        </p:spPr>
        <p:txBody>
          <a:bodyPr>
            <a:spAutoFit/>
          </a:bodyPr>
          <a:lstStyle/>
          <a:p>
            <a:r>
              <a:rPr lang="en-US" sz="5400" b="1" i="1" dirty="0">
                <a:solidFill>
                  <a:srgbClr val="C44D2D"/>
                </a:solidFill>
              </a:rPr>
              <a:t>Thank you for the attention!</a:t>
            </a:r>
            <a:endParaRPr lang="en-GB" sz="5400" b="1" i="1" dirty="0">
              <a:solidFill>
                <a:srgbClr val="C44D2D"/>
              </a:solidFill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E1A0F3C5-23C2-9F48-F3CB-366C4A5345E5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401" y="33970"/>
            <a:ext cx="1382395" cy="1403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750446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9E684975B403E40934646EB68A0DCB4" ma:contentTypeVersion="4" ma:contentTypeDescription="Creare un nuovo documento." ma:contentTypeScope="" ma:versionID="a84928be70b3bf38432387f07b229ade">
  <xsd:schema xmlns:xsd="http://www.w3.org/2001/XMLSchema" xmlns:xs="http://www.w3.org/2001/XMLSchema" xmlns:p="http://schemas.microsoft.com/office/2006/metadata/properties" xmlns:ns3="9d07669f-1253-43da-a0f5-48e0d2e2abfc" targetNamespace="http://schemas.microsoft.com/office/2006/metadata/properties" ma:root="true" ma:fieldsID="43f776e119faa5241a9ad58f65e75669" ns3:_="">
    <xsd:import namespace="9d07669f-1253-43da-a0f5-48e0d2e2abf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07669f-1253-43da-a0f5-48e0d2e2abf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B7741F2-4D25-45C2-A8A4-CFE670F2A52C}">
  <ds:schemaRefs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purl.org/dc/terms/"/>
    <ds:schemaRef ds:uri="http://schemas.microsoft.com/office/infopath/2007/PartnerControls"/>
    <ds:schemaRef ds:uri="9d07669f-1253-43da-a0f5-48e0d2e2abfc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F2C872E-F723-435D-803B-E76FD18D139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F31C1F9-E995-44AA-9931-18E87EB5F7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07669f-1253-43da-a0f5-48e0d2e2abf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683</TotalTime>
  <Words>821</Words>
  <Application>Microsoft Office PowerPoint</Application>
  <PresentationFormat>Widescreen</PresentationFormat>
  <Paragraphs>174</Paragraphs>
  <Slides>13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20" baseType="lpstr">
      <vt:lpstr>ADLaM Display</vt:lpstr>
      <vt:lpstr>Arial</vt:lpstr>
      <vt:lpstr>Calibri</vt:lpstr>
      <vt:lpstr>Calibri Light</vt:lpstr>
      <vt:lpstr>Cambria Math</vt:lpstr>
      <vt:lpstr>Wingdings</vt:lpstr>
      <vt:lpstr>Tema di Office</vt:lpstr>
      <vt:lpstr>QRS Width Detection on Electrocardiography:  a comprehensive review and implementation of detection algorithm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Thank you for the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QRS Width Detection on Electrocardiography: A Comprehensive systematic Review</dc:title>
  <dc:creator>D'AVINO PIERA</dc:creator>
  <cp:lastModifiedBy>D'AVINO PIERA</cp:lastModifiedBy>
  <cp:revision>5</cp:revision>
  <dcterms:created xsi:type="dcterms:W3CDTF">2024-05-19T15:28:44Z</dcterms:created>
  <dcterms:modified xsi:type="dcterms:W3CDTF">2024-05-22T05:40:48Z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0x01010009E684975B403E40934646EB68A0DCB4</vt:lpwstr>
  </property>
</Properties>
</file>